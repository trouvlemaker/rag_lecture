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7" userDrawn="1">
          <p15:clr>
            <a:srgbClr val="A4A3A4"/>
          </p15:clr>
        </p15:guide>
        <p15:guide id="3" orient="horz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128" y="208"/>
      </p:cViewPr>
      <p:guideLst>
        <p:guide orient="horz" pos="527"/>
        <p:guide orient="horz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108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image" Target="../media/image67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image" Target="../media/image61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30000"/>
          </a:blip>
          <a:srcRect/>
          <a:stretch/>
        </p:blipFill>
        <p:spPr>
          <a:xfrm>
            <a:off x="0" y="0"/>
            <a:ext cx="3657600" cy="36576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>
            <a:alphaModFix amt="20000"/>
          </a:blip>
          <a:srcRect/>
          <a:stretch/>
        </p:blipFill>
        <p:spPr>
          <a:xfrm>
            <a:off x="0" y="0"/>
            <a:ext cx="3047695" cy="3047695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>
            <a:alphaModFix amt="10000"/>
          </a:blip>
          <a:srcRect/>
          <a:stretch/>
        </p:blipFill>
        <p:spPr>
          <a:xfrm>
            <a:off x="7239305" y="571500"/>
            <a:ext cx="5715000" cy="57150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09905" y="609905"/>
            <a:ext cx="381305" cy="381305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rcRect l="-1064" r="-1064"/>
          <a:stretch/>
        </p:blipFill>
        <p:spPr>
          <a:xfrm>
            <a:off x="690372" y="714146"/>
            <a:ext cx="219456" cy="171907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1071677" y="691071"/>
            <a:ext cx="21314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900" b="1" kern="0" spc="9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r>
              <a:rPr lang="en-US" dirty="0"/>
              <a:t>Advanced Retrieval Systems</a:t>
            </a:r>
          </a:p>
        </p:txBody>
      </p:sp>
      <p:sp>
        <p:nvSpPr>
          <p:cNvPr id="11" name="Shape 3"/>
          <p:cNvSpPr/>
          <p:nvPr/>
        </p:nvSpPr>
        <p:spPr>
          <a:xfrm>
            <a:off x="761695" y="1328623"/>
            <a:ext cx="1628546" cy="247802"/>
          </a:xfrm>
          <a:prstGeom prst="roundRect">
            <a:avLst>
              <a:gd name="adj" fmla="val 113540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4"/>
          <p:cNvSpPr txBox="1"/>
          <p:nvPr/>
        </p:nvSpPr>
        <p:spPr>
          <a:xfrm>
            <a:off x="761695" y="1328623"/>
            <a:ext cx="169438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t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Technical Deep Dive</a:t>
            </a:r>
            <a:endParaRPr lang="en-US" sz="90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/>
          <a:srcRect l="-2111" r="-2111"/>
          <a:stretch/>
        </p:blipFill>
        <p:spPr>
          <a:xfrm>
            <a:off x="2496312" y="1447495"/>
            <a:ext cx="609905" cy="9144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761695" y="1805026"/>
            <a:ext cx="1099200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KR" pitchFamily="34" charset="-120"/>
              </a:rPr>
              <a:t>PDF </a:t>
            </a:r>
            <a:r>
              <a:rPr lang="ko-KR" altLang="en-US" sz="5400" b="1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Noto Sans KR" pitchFamily="34" charset="-120"/>
              </a:rPr>
              <a:t>파일 기반</a:t>
            </a:r>
            <a:endParaRPr lang="en-US" sz="54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l">
              <a:buNone/>
            </a:pPr>
            <a:r>
              <a:rPr lang="en-US" sz="5400" b="1" dirty="0">
                <a:solidFill>
                  <a:srgbClr val="3B82F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RAG </a:t>
            </a:r>
            <a:r>
              <a:rPr lang="ko-KR" altLang="en-US" sz="5400" b="1" dirty="0">
                <a:solidFill>
                  <a:srgbClr val="3B82F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고급 기법</a:t>
            </a:r>
            <a:endParaRPr lang="en-US" sz="54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10"/>
          <a:srcRect l="-201" r="-201"/>
          <a:stretch/>
        </p:blipFill>
        <p:spPr>
          <a:xfrm>
            <a:off x="761695" y="3748126"/>
            <a:ext cx="914400" cy="75895"/>
          </a:xfrm>
          <a:prstGeom prst="rect">
            <a:avLst/>
          </a:prstGeom>
        </p:spPr>
      </p:pic>
      <p:sp>
        <p:nvSpPr>
          <p:cNvPr id="16" name="Text 6"/>
          <p:cNvSpPr txBox="1"/>
          <p:nvPr/>
        </p:nvSpPr>
        <p:spPr>
          <a:xfrm>
            <a:off x="761695" y="4129430"/>
            <a:ext cx="8620963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실무 관점으로 이해하는 RAG 파이프라인의 모든 것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</a:t>
            </a: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</a:t>
            </a:r>
            <a:r>
              <a:rPr lang="en-US" sz="18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추출</a:t>
            </a: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</a:t>
            </a:r>
            <a:r>
              <a:rPr lang="en-US" sz="1800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</a:t>
            </a: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</a:t>
            </a:r>
            <a:r>
              <a:rPr lang="en-US" sz="1800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리랭크</a:t>
            </a: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생성</a:t>
            </a:r>
            <a:endParaRPr lang="en-US" sz="1800" dirty="0"/>
          </a:p>
        </p:txBody>
      </p:sp>
      <p:sp>
        <p:nvSpPr>
          <p:cNvPr id="17" name="Shape 7"/>
          <p:cNvSpPr/>
          <p:nvPr/>
        </p:nvSpPr>
        <p:spPr>
          <a:xfrm>
            <a:off x="609905" y="5438851"/>
            <a:ext cx="109728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/>
          <p:cNvSpPr txBox="1"/>
          <p:nvPr/>
        </p:nvSpPr>
        <p:spPr>
          <a:xfrm>
            <a:off x="609905" y="5790895"/>
            <a:ext cx="18196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Presenter</a:t>
            </a:r>
            <a:endParaRPr lang="en-US" sz="900" dirty="0"/>
          </a:p>
        </p:txBody>
      </p:sp>
      <p:sp>
        <p:nvSpPr>
          <p:cNvPr id="20" name="Text 10"/>
          <p:cNvSpPr txBox="1"/>
          <p:nvPr/>
        </p:nvSpPr>
        <p:spPr>
          <a:xfrm>
            <a:off x="2800807" y="5790895"/>
            <a:ext cx="202082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Subject</a:t>
            </a:r>
            <a:endParaRPr lang="en-US" sz="900" dirty="0"/>
          </a:p>
        </p:txBody>
      </p:sp>
      <p:sp>
        <p:nvSpPr>
          <p:cNvPr id="21" name="Text 11"/>
          <p:cNvSpPr txBox="1"/>
          <p:nvPr/>
        </p:nvSpPr>
        <p:spPr>
          <a:xfrm>
            <a:off x="2800807" y="5982005"/>
            <a:ext cx="22384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Large Language Models</a:t>
            </a:r>
            <a:endParaRPr lang="en-US" sz="1300" dirty="0"/>
          </a:p>
        </p:txBody>
      </p:sp>
      <p:sp>
        <p:nvSpPr>
          <p:cNvPr id="22" name="Text 12"/>
          <p:cNvSpPr txBox="1"/>
          <p:nvPr/>
        </p:nvSpPr>
        <p:spPr>
          <a:xfrm>
            <a:off x="9859975" y="5753405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Date</a:t>
            </a:r>
            <a:endParaRPr lang="en-US" sz="900" dirty="0"/>
          </a:p>
        </p:txBody>
      </p:sp>
      <p:sp>
        <p:nvSpPr>
          <p:cNvPr id="23" name="Text 13"/>
          <p:cNvSpPr txBox="1"/>
          <p:nvPr/>
        </p:nvSpPr>
        <p:spPr>
          <a:xfrm>
            <a:off x="9859975" y="5943600"/>
            <a:ext cx="17245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2026. 03. 11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84347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57200" y="4786"/>
            <a:ext cx="733349" cy="190195"/>
          </a:xfrm>
          <a:prstGeom prst="roundRect">
            <a:avLst>
              <a:gd name="adj" fmla="val 288462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457200" y="4786"/>
            <a:ext cx="810158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Concept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259129" y="23988"/>
            <a:ext cx="124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380744" y="23988"/>
            <a:ext cx="13908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Fundamentals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70876"/>
            <a:ext cx="741944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RAG Retrieval-Augmented Generation</a:t>
            </a:r>
            <a:endParaRPr lang="en-US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9891979" y="509535"/>
            <a:ext cx="18489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필요한가, 무엇을 하는가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457200" y="924331"/>
            <a:ext cx="3556102" cy="1828800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1754" y="1238884"/>
            <a:ext cx="152705" cy="152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14654" y="1181277"/>
            <a:ext cx="1521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Why: LLM의 한계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694944" y="1581784"/>
            <a:ext cx="31629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LLM은 문장은 유려하지만, </a:t>
            </a: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데이터 밖의 지식</a:t>
            </a: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(사내 문서, 최신 뉴스)은 모릅니다. 모르는 것도 아는 척 답하는 </a:t>
            </a:r>
            <a:r>
              <a:rPr lang="en-US" sz="10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환각(Hallucination)</a:t>
            </a: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문제가 발생합니다. 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t="-1" b="-1"/>
          <a:stretch/>
        </p:blipFill>
        <p:spPr>
          <a:xfrm>
            <a:off x="4317797" y="924331"/>
            <a:ext cx="7416698" cy="1828800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t="-100" b="-100"/>
          <a:stretch/>
        </p:blipFill>
        <p:spPr>
          <a:xfrm>
            <a:off x="4651553" y="1238884"/>
            <a:ext cx="114300" cy="15270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975250" y="1181277"/>
            <a:ext cx="19723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Solution: 검색 + 생성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4708246" y="1676882"/>
            <a:ext cx="828446" cy="552298"/>
          </a:xfrm>
          <a:prstGeom prst="roundRect">
            <a:avLst>
              <a:gd name="adj" fmla="val 2283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3"/>
          <p:cNvSpPr txBox="1"/>
          <p:nvPr/>
        </p:nvSpPr>
        <p:spPr>
          <a:xfrm>
            <a:off x="4822546" y="1991435"/>
            <a:ext cx="6007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Retrieval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4670755" y="2305989"/>
            <a:ext cx="9052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문서 찾기</a:t>
            </a:r>
            <a:endParaRPr lang="en-US" sz="9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6402629" y="1991435"/>
            <a:ext cx="133502" cy="152705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402068" y="1676882"/>
            <a:ext cx="952805" cy="552298"/>
          </a:xfrm>
          <a:prstGeom prst="roundRect">
            <a:avLst>
              <a:gd name="adj" fmla="val 2283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6"/>
          <p:cNvSpPr txBox="1"/>
          <p:nvPr/>
        </p:nvSpPr>
        <p:spPr>
          <a:xfrm>
            <a:off x="7511796" y="1991435"/>
            <a:ext cx="7342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7363663" y="2305989"/>
            <a:ext cx="10287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기반 답변</a:t>
            </a:r>
            <a:endParaRPr lang="en-US" sz="9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t="-43" b="-43"/>
          <a:stretch/>
        </p:blipFill>
        <p:spPr>
          <a:xfrm>
            <a:off x="9218066" y="1991435"/>
            <a:ext cx="133502" cy="152705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10217506" y="1620189"/>
            <a:ext cx="1133856" cy="666598"/>
          </a:xfrm>
          <a:prstGeom prst="roundRect">
            <a:avLst>
              <a:gd name="adj" fmla="val 15677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19"/>
          <p:cNvSpPr txBox="1"/>
          <p:nvPr/>
        </p:nvSpPr>
        <p:spPr>
          <a:xfrm>
            <a:off x="10385755" y="1972233"/>
            <a:ext cx="7973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정확한 답변</a:t>
            </a:r>
            <a:endParaRPr lang="en-US" sz="1000" dirty="0"/>
          </a:p>
        </p:txBody>
      </p:sp>
      <p:sp>
        <p:nvSpPr>
          <p:cNvPr id="29" name="Text 20"/>
          <p:cNvSpPr txBox="1"/>
          <p:nvPr/>
        </p:nvSpPr>
        <p:spPr>
          <a:xfrm>
            <a:off x="10171786" y="2362682"/>
            <a:ext cx="12243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환각 최소화</a:t>
            </a:r>
            <a:endParaRPr lang="en-US" sz="9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rcRect l="-4" r="-4"/>
          <a:stretch/>
        </p:blipFill>
        <p:spPr>
          <a:xfrm>
            <a:off x="457200" y="4618392"/>
            <a:ext cx="5486400" cy="2038198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886054" y="4817731"/>
            <a:ext cx="5048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품질 결정 3요소 </a:t>
            </a: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(모델 크기보다 중요)</a:t>
            </a:r>
            <a:endParaRPr lang="en-US" sz="12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57454" y="4856136"/>
            <a:ext cx="152705" cy="152705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961949" y="5199036"/>
            <a:ext cx="2467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Extraction (추출)</a:t>
            </a:r>
            <a:endParaRPr lang="en-US" sz="1000" dirty="0"/>
          </a:p>
        </p:txBody>
      </p:sp>
      <p:sp>
        <p:nvSpPr>
          <p:cNvPr id="34" name="Text 23"/>
          <p:cNvSpPr txBox="1"/>
          <p:nvPr/>
        </p:nvSpPr>
        <p:spPr>
          <a:xfrm>
            <a:off x="961949" y="5389231"/>
            <a:ext cx="28510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문서(PDF 등)에서 텍스트를 깨끗하게 뽑아냈는가?</a:t>
            </a:r>
            <a:endParaRPr lang="en-US" sz="900" dirty="0"/>
          </a:p>
        </p:txBody>
      </p:sp>
      <p:sp>
        <p:nvSpPr>
          <p:cNvPr id="35" name="Text 24"/>
          <p:cNvSpPr txBox="1"/>
          <p:nvPr/>
        </p:nvSpPr>
        <p:spPr>
          <a:xfrm>
            <a:off x="961949" y="5656236"/>
            <a:ext cx="24176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Chunking (청킹)</a:t>
            </a:r>
            <a:endParaRPr lang="en-US" sz="1000" dirty="0"/>
          </a:p>
        </p:txBody>
      </p:sp>
      <p:sp>
        <p:nvSpPr>
          <p:cNvPr id="36" name="Text 25"/>
          <p:cNvSpPr txBox="1"/>
          <p:nvPr/>
        </p:nvSpPr>
        <p:spPr>
          <a:xfrm>
            <a:off x="961949" y="5846431"/>
            <a:ext cx="279257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의미가 훼손되지 않도록 적절한 단위로 쪼갰는가?</a:t>
            </a:r>
            <a:endParaRPr lang="en-US" sz="900" dirty="0"/>
          </a:p>
        </p:txBody>
      </p:sp>
      <p:sp>
        <p:nvSpPr>
          <p:cNvPr id="37" name="Text 26"/>
          <p:cNvSpPr txBox="1"/>
          <p:nvPr/>
        </p:nvSpPr>
        <p:spPr>
          <a:xfrm>
            <a:off x="961949" y="6113436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Retrieval (검색)</a:t>
            </a:r>
            <a:endParaRPr lang="en-US" sz="1000" dirty="0"/>
          </a:p>
        </p:txBody>
      </p:sp>
      <p:sp>
        <p:nvSpPr>
          <p:cNvPr id="38" name="Text 27"/>
          <p:cNvSpPr txBox="1"/>
          <p:nvPr/>
        </p:nvSpPr>
        <p:spPr>
          <a:xfrm>
            <a:off x="961949" y="6303631"/>
            <a:ext cx="23198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질문에 딱 맞는 근거 조각을 찾아왔는가?</a:t>
            </a:r>
            <a:endParaRPr lang="en-US" sz="90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0"/>
          <a:srcRect l="-4" r="-4"/>
          <a:stretch/>
        </p:blipFill>
        <p:spPr>
          <a:xfrm>
            <a:off x="6248095" y="4618392"/>
            <a:ext cx="5486400" cy="2038198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6676949" y="4817731"/>
            <a:ext cx="5048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주요 실패 패턴 </a:t>
            </a:r>
            <a:endParaRPr lang="en-US" sz="1200" dirty="0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448349" y="4856136"/>
            <a:ext cx="152705" cy="152705"/>
          </a:xfrm>
          <a:prstGeom prst="rect">
            <a:avLst/>
          </a:prstGeom>
        </p:spPr>
      </p:pic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3"/>
          <a:srcRect l="-21233" r="-21233"/>
          <a:stretch/>
        </p:blipFill>
        <p:spPr>
          <a:xfrm>
            <a:off x="6524244" y="5304192"/>
            <a:ext cx="190195" cy="133502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6829654" y="5199036"/>
            <a:ext cx="2563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실패</a:t>
            </a: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답이 틀리거나 "근거 없음" 답변</a:t>
            </a:r>
            <a:endParaRPr lang="en-US" sz="1000" dirty="0"/>
          </a:p>
        </p:txBody>
      </p:sp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14"/>
          <a:srcRect l="-21233" r="-21233"/>
          <a:stretch/>
        </p:blipFill>
        <p:spPr>
          <a:xfrm>
            <a:off x="6524244" y="5761392"/>
            <a:ext cx="190195" cy="133502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6829654" y="5656236"/>
            <a:ext cx="245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 왜곡</a:t>
            </a: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근거는 맞는데 요약/해석 실수</a:t>
            </a:r>
            <a:endParaRPr lang="en-US" sz="1000" dirty="0"/>
          </a:p>
        </p:txBody>
      </p:sp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5"/>
          <a:srcRect l="-44978" r="-44978"/>
          <a:stretch/>
        </p:blipFill>
        <p:spPr>
          <a:xfrm>
            <a:off x="6524244" y="6218592"/>
            <a:ext cx="190195" cy="133502"/>
          </a:xfrm>
          <a:prstGeom prst="rect">
            <a:avLst/>
          </a:prstGeom>
        </p:spPr>
      </p:pic>
      <p:sp>
        <p:nvSpPr>
          <p:cNvPr id="47" name="Text 31"/>
          <p:cNvSpPr txBox="1"/>
          <p:nvPr/>
        </p:nvSpPr>
        <p:spPr>
          <a:xfrm>
            <a:off x="6829654" y="6113436"/>
            <a:ext cx="27340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추출 불가</a:t>
            </a: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표/이미지가 깨져서 검색 원천 봉쇄</a:t>
            </a:r>
            <a:endParaRPr lang="en-US" sz="1000" dirty="0"/>
          </a:p>
        </p:txBody>
      </p:sp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5046574" y="1771979"/>
            <a:ext cx="152705" cy="152705"/>
          </a:xfrm>
          <a:prstGeom prst="rect">
            <a:avLst/>
          </a:prstGeom>
        </p:spPr>
      </p:pic>
      <p:pic>
        <p:nvPicPr>
          <p:cNvPr id="49" name="Image 15" descr="preencoded.png"/>
          <p:cNvPicPr>
            <a:picLocks noChangeAspect="1"/>
          </p:cNvPicPr>
          <p:nvPr/>
        </p:nvPicPr>
        <p:blipFill>
          <a:blip r:embed="rId17"/>
          <a:srcRect t="-180" b="-180"/>
          <a:stretch/>
        </p:blipFill>
        <p:spPr>
          <a:xfrm>
            <a:off x="7781544" y="1771979"/>
            <a:ext cx="190195" cy="152705"/>
          </a:xfrm>
          <a:prstGeom prst="rect">
            <a:avLst/>
          </a:prstGeom>
        </p:spPr>
      </p:pic>
      <p:pic>
        <p:nvPicPr>
          <p:cNvPr id="50" name="Image 16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0704881" y="1752777"/>
            <a:ext cx="152705" cy="152705"/>
          </a:xfrm>
          <a:prstGeom prst="rect">
            <a:avLst/>
          </a:prstGeom>
        </p:spPr>
      </p:pic>
      <p:sp>
        <p:nvSpPr>
          <p:cNvPr id="51" name="Shape 32"/>
          <p:cNvSpPr/>
          <p:nvPr/>
        </p:nvSpPr>
        <p:spPr>
          <a:xfrm>
            <a:off x="457200" y="2879242"/>
            <a:ext cx="11277295" cy="1524305"/>
          </a:xfrm>
          <a:prstGeom prst="roundRect">
            <a:avLst>
              <a:gd name="adj" fmla="val 899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33"/>
          <p:cNvSpPr txBox="1"/>
          <p:nvPr/>
        </p:nvSpPr>
        <p:spPr>
          <a:xfrm>
            <a:off x="619049" y="3002686"/>
            <a:ext cx="13149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Process Flow</a:t>
            </a:r>
            <a:endParaRPr lang="en-US" sz="900" dirty="0"/>
          </a:p>
        </p:txBody>
      </p:sp>
      <p:sp>
        <p:nvSpPr>
          <p:cNvPr id="53" name="Text 34"/>
          <p:cNvSpPr txBox="1"/>
          <p:nvPr/>
        </p:nvSpPr>
        <p:spPr>
          <a:xfrm>
            <a:off x="2891333" y="3507435"/>
            <a:ext cx="6007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Search</a:t>
            </a:r>
            <a:endParaRPr lang="en-US" sz="900" dirty="0"/>
          </a:p>
        </p:txBody>
      </p:sp>
      <p:pic>
        <p:nvPicPr>
          <p:cNvPr id="54" name="Image 17" descr="preencoded.png"/>
          <p:cNvPicPr>
            <a:picLocks noChangeAspect="1"/>
          </p:cNvPicPr>
          <p:nvPr/>
        </p:nvPicPr>
        <p:blipFill>
          <a:blip r:embed="rId19"/>
          <a:srcRect t="-180" b="-180"/>
          <a:stretch/>
        </p:blipFill>
        <p:spPr>
          <a:xfrm>
            <a:off x="3689604" y="3565042"/>
            <a:ext cx="95098" cy="152705"/>
          </a:xfrm>
          <a:prstGeom prst="rect">
            <a:avLst/>
          </a:prstGeom>
        </p:spPr>
      </p:pic>
      <p:sp>
        <p:nvSpPr>
          <p:cNvPr id="55" name="Text 35"/>
          <p:cNvSpPr txBox="1"/>
          <p:nvPr/>
        </p:nvSpPr>
        <p:spPr>
          <a:xfrm>
            <a:off x="5813755" y="3507435"/>
            <a:ext cx="648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Context</a:t>
            </a:r>
            <a:endParaRPr lang="en-US" sz="900" dirty="0"/>
          </a:p>
        </p:txBody>
      </p:sp>
      <p:pic>
        <p:nvPicPr>
          <p:cNvPr id="56" name="Image 18" descr="preencoded.png"/>
          <p:cNvPicPr>
            <a:picLocks noChangeAspect="1"/>
          </p:cNvPicPr>
          <p:nvPr/>
        </p:nvPicPr>
        <p:blipFill>
          <a:blip r:embed="rId19"/>
          <a:srcRect t="-180" b="-180"/>
          <a:stretch/>
        </p:blipFill>
        <p:spPr>
          <a:xfrm>
            <a:off x="6635801" y="3565042"/>
            <a:ext cx="95098" cy="152705"/>
          </a:xfrm>
          <a:prstGeom prst="rect">
            <a:avLst/>
          </a:prstGeom>
        </p:spPr>
      </p:pic>
      <p:sp>
        <p:nvSpPr>
          <p:cNvPr id="57" name="Text 36"/>
          <p:cNvSpPr txBox="1"/>
          <p:nvPr/>
        </p:nvSpPr>
        <p:spPr>
          <a:xfrm>
            <a:off x="8770925" y="3507435"/>
            <a:ext cx="6291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Answer</a:t>
            </a:r>
            <a:endParaRPr lang="en-US" sz="900" dirty="0"/>
          </a:p>
        </p:txBody>
      </p:sp>
      <p:pic>
        <p:nvPicPr>
          <p:cNvPr id="58" name="Image 19" descr="preencoded.png"/>
          <p:cNvPicPr>
            <a:picLocks noChangeAspect="1"/>
          </p:cNvPicPr>
          <p:nvPr/>
        </p:nvPicPr>
        <p:blipFill>
          <a:blip r:embed="rId19"/>
          <a:srcRect t="-180" b="-180"/>
          <a:stretch/>
        </p:blipFill>
        <p:spPr>
          <a:xfrm>
            <a:off x="9581998" y="3565042"/>
            <a:ext cx="95098" cy="152705"/>
          </a:xfrm>
          <a:prstGeom prst="rect">
            <a:avLst/>
          </a:prstGeom>
        </p:spPr>
      </p:pic>
      <p:sp>
        <p:nvSpPr>
          <p:cNvPr id="59" name="Shape 37"/>
          <p:cNvSpPr/>
          <p:nvPr/>
        </p:nvSpPr>
        <p:spPr>
          <a:xfrm>
            <a:off x="1524305" y="3202940"/>
            <a:ext cx="609905" cy="609905"/>
          </a:xfrm>
          <a:prstGeom prst="ellipse">
            <a:avLst/>
          </a:prstGeom>
          <a:noFill/>
          <a:ln w="508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0" name="Image 20" descr="preencoded.png"/>
          <p:cNvPicPr>
            <a:picLocks noChangeAspect="1"/>
          </p:cNvPicPr>
          <p:nvPr/>
        </p:nvPicPr>
        <p:blipFill>
          <a:blip r:embed="rId20"/>
          <a:srcRect l="-1648" r="-1648"/>
          <a:stretch/>
        </p:blipFill>
        <p:spPr>
          <a:xfrm>
            <a:off x="1742846" y="3412337"/>
            <a:ext cx="171907" cy="190195"/>
          </a:xfrm>
          <a:prstGeom prst="rect">
            <a:avLst/>
          </a:prstGeom>
        </p:spPr>
      </p:pic>
      <p:sp>
        <p:nvSpPr>
          <p:cNvPr id="61" name="Text 38"/>
          <p:cNvSpPr txBox="1"/>
          <p:nvPr/>
        </p:nvSpPr>
        <p:spPr>
          <a:xfrm>
            <a:off x="1436522" y="3888740"/>
            <a:ext cx="9409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(Query)</a:t>
            </a:r>
            <a:endParaRPr lang="en-US" sz="1000" dirty="0"/>
          </a:p>
        </p:txBody>
      </p:sp>
      <p:sp>
        <p:nvSpPr>
          <p:cNvPr id="62" name="Shape 39"/>
          <p:cNvSpPr/>
          <p:nvPr/>
        </p:nvSpPr>
        <p:spPr>
          <a:xfrm>
            <a:off x="4013302" y="3069437"/>
            <a:ext cx="1218895" cy="9144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3" name="Image 21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4508906" y="3298037"/>
            <a:ext cx="228600" cy="228600"/>
          </a:xfrm>
          <a:prstGeom prst="rect">
            <a:avLst/>
          </a:prstGeom>
        </p:spPr>
      </p:pic>
      <p:sp>
        <p:nvSpPr>
          <p:cNvPr id="64" name="Text 40"/>
          <p:cNvSpPr txBox="1"/>
          <p:nvPr/>
        </p:nvSpPr>
        <p:spPr>
          <a:xfrm>
            <a:off x="4319626" y="3565042"/>
            <a:ext cx="7260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Retriever</a:t>
            </a:r>
            <a:endParaRPr lang="en-US" sz="1000" dirty="0"/>
          </a:p>
        </p:txBody>
      </p:sp>
      <p:sp>
        <p:nvSpPr>
          <p:cNvPr id="65" name="Text 41"/>
          <p:cNvSpPr txBox="1"/>
          <p:nvPr/>
        </p:nvSpPr>
        <p:spPr>
          <a:xfrm>
            <a:off x="4046220" y="4059733"/>
            <a:ext cx="115945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 문서 조각 추출</a:t>
            </a:r>
            <a:endParaRPr lang="en-US" sz="900" dirty="0"/>
          </a:p>
        </p:txBody>
      </p:sp>
      <p:sp>
        <p:nvSpPr>
          <p:cNvPr id="66" name="Shape 42"/>
          <p:cNvSpPr/>
          <p:nvPr/>
        </p:nvSpPr>
        <p:spPr>
          <a:xfrm>
            <a:off x="6959498" y="3069437"/>
            <a:ext cx="1218895" cy="9144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7" name="Image 22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7455103" y="3298037"/>
            <a:ext cx="228600" cy="228600"/>
          </a:xfrm>
          <a:prstGeom prst="rect">
            <a:avLst/>
          </a:prstGeom>
        </p:spPr>
      </p:pic>
      <p:sp>
        <p:nvSpPr>
          <p:cNvPr id="68" name="Text 43"/>
          <p:cNvSpPr txBox="1"/>
          <p:nvPr/>
        </p:nvSpPr>
        <p:spPr>
          <a:xfrm>
            <a:off x="7434986" y="3565042"/>
            <a:ext cx="352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</a:t>
            </a:r>
            <a:endParaRPr lang="en-US" sz="1000" dirty="0"/>
          </a:p>
        </p:txBody>
      </p:sp>
      <p:sp>
        <p:nvSpPr>
          <p:cNvPr id="69" name="Text 44"/>
          <p:cNvSpPr txBox="1"/>
          <p:nvPr/>
        </p:nvSpPr>
        <p:spPr>
          <a:xfrm>
            <a:off x="7144207" y="4059733"/>
            <a:ext cx="8513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기반 생성</a:t>
            </a:r>
            <a:endParaRPr lang="en-US" sz="900" dirty="0"/>
          </a:p>
        </p:txBody>
      </p:sp>
      <p:pic>
        <p:nvPicPr>
          <p:cNvPr id="70" name="Image 23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10058400" y="3202940"/>
            <a:ext cx="609905" cy="609905"/>
          </a:xfrm>
          <a:prstGeom prst="rect">
            <a:avLst/>
          </a:prstGeom>
        </p:spPr>
      </p:pic>
      <p:pic>
        <p:nvPicPr>
          <p:cNvPr id="71" name="Image 24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10267798" y="3412337"/>
            <a:ext cx="190195" cy="190195"/>
          </a:xfrm>
          <a:prstGeom prst="rect">
            <a:avLst/>
          </a:prstGeom>
        </p:spPr>
      </p:pic>
      <p:sp>
        <p:nvSpPr>
          <p:cNvPr id="72" name="Text 45"/>
          <p:cNvSpPr txBox="1"/>
          <p:nvPr/>
        </p:nvSpPr>
        <p:spPr>
          <a:xfrm>
            <a:off x="10098634" y="3888740"/>
            <a:ext cx="654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답변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8392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4787"/>
            <a:ext cx="923544" cy="190195"/>
          </a:xfrm>
          <a:prstGeom prst="roundRect">
            <a:avLst>
              <a:gd name="adj" fmla="val 288462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4787"/>
            <a:ext cx="1000354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Extraction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456639" y="23989"/>
            <a:ext cx="124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577340" y="23989"/>
            <a:ext cx="11914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 Processing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70877"/>
            <a:ext cx="350763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 추출 방식 비교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9106510" y="432726"/>
            <a:ext cx="26316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중심 vs 구조화 vs 시각적 이해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4495" y="1090180"/>
            <a:ext cx="3715207" cy="5086807"/>
          </a:xfrm>
          <a:prstGeom prst="roundRect">
            <a:avLst>
              <a:gd name="adj" fmla="val 1515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14554" y="2395943"/>
            <a:ext cx="3696005" cy="9144"/>
          </a:xfrm>
          <a:prstGeom prst="roundRect">
            <a:avLst>
              <a:gd name="adj" fmla="val 1751825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04749" y="1290433"/>
            <a:ext cx="381305" cy="381305"/>
          </a:xfrm>
          <a:prstGeom prst="roundRect">
            <a:avLst>
              <a:gd name="adj" fmla="val 9592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3621" y="1385531"/>
            <a:ext cx="142646" cy="19019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273552" y="1290433"/>
            <a:ext cx="571500" cy="219456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Basic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504749" y="1747633"/>
            <a:ext cx="3429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PyMuPDFLoader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04749" y="2052128"/>
            <a:ext cx="35058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전통적 텍스트 추출 방식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04749" y="2595282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Mechanism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04749" y="2823882"/>
            <a:ext cx="33915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PDF 내부 텍스트 레이어를 읽어 </a:t>
            </a: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Raw Text</a:t>
            </a: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 빠르게 추출 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04749" y="3509682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Pros &amp; Cons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3738282"/>
            <a:ext cx="3324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매우 빠르고 비용 0 (로컬)</a:t>
            </a:r>
            <a:endParaRPr lang="en-US" sz="12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504749" y="3776687"/>
            <a:ext cx="105156" cy="11430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85800" y="4005287"/>
            <a:ext cx="3324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대량 문서 처리에 최적</a:t>
            </a:r>
            <a:endParaRPr lang="en-US" sz="12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504749" y="4042777"/>
            <a:ext cx="105156" cy="11430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04749" y="5353112"/>
            <a:ext cx="3314700" cy="629107"/>
          </a:xfrm>
          <a:prstGeom prst="roundRect">
            <a:avLst>
              <a:gd name="adj" fmla="val 3523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2"/>
          <p:cNvSpPr txBox="1"/>
          <p:nvPr/>
        </p:nvSpPr>
        <p:spPr>
          <a:xfrm>
            <a:off x="813816" y="5476556"/>
            <a:ext cx="30732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추천 상황 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629107" y="5666752"/>
            <a:ext cx="36886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본문 위주, 표가 적은 문서, 빠르게 베이스라인 구축할 때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241902" y="1090180"/>
            <a:ext cx="3715207" cy="5086807"/>
          </a:xfrm>
          <a:prstGeom prst="roundRect">
            <a:avLst>
              <a:gd name="adj" fmla="val 1515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4251046" y="2395943"/>
            <a:ext cx="3696005" cy="9144"/>
          </a:xfrm>
          <a:prstGeom prst="roundRect">
            <a:avLst>
              <a:gd name="adj" fmla="val 1751825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6"/>
          <p:cNvSpPr/>
          <p:nvPr/>
        </p:nvSpPr>
        <p:spPr>
          <a:xfrm>
            <a:off x="4442155" y="1290433"/>
            <a:ext cx="381305" cy="381305"/>
          </a:xfrm>
          <a:prstGeom prst="roundRect">
            <a:avLst>
              <a:gd name="adj" fmla="val 9592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61027" y="1385531"/>
            <a:ext cx="142646" cy="190195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785762" y="1290433"/>
            <a:ext cx="1000354" cy="219456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Structured</a:t>
            </a:r>
            <a:endParaRPr lang="en-US" sz="800" dirty="0"/>
          </a:p>
        </p:txBody>
      </p:sp>
      <p:sp>
        <p:nvSpPr>
          <p:cNvPr id="34" name="Text 28"/>
          <p:cNvSpPr txBox="1"/>
          <p:nvPr/>
        </p:nvSpPr>
        <p:spPr>
          <a:xfrm>
            <a:off x="4442155" y="1747633"/>
            <a:ext cx="3429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PyMuPDF4LLM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4442155" y="2052128"/>
            <a:ext cx="35058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친화적 마크다운 변환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4442155" y="2595282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Mechanism</a:t>
            </a:r>
            <a:endParaRPr lang="en-US" sz="900" dirty="0"/>
          </a:p>
        </p:txBody>
      </p:sp>
      <p:sp>
        <p:nvSpPr>
          <p:cNvPr id="37" name="Text 31"/>
          <p:cNvSpPr txBox="1"/>
          <p:nvPr/>
        </p:nvSpPr>
        <p:spPr>
          <a:xfrm>
            <a:off x="4442155" y="2823882"/>
            <a:ext cx="33915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텍스트를 </a:t>
            </a: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Markdown 형식</a:t>
            </a: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변환하여 문단/헤더 구조 보존 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4442155" y="3509682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Pros &amp; Cons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4623206" y="3738282"/>
            <a:ext cx="3324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LLM이 이해하기 좋은 구조</a:t>
            </a:r>
            <a:endParaRPr lang="en-US" sz="120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4442155" y="3776687"/>
            <a:ext cx="105156" cy="114300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4623206" y="4005287"/>
            <a:ext cx="3324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흐름이 자연스러움</a:t>
            </a:r>
            <a:endParaRPr lang="en-US" sz="120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4442155" y="4042777"/>
            <a:ext cx="105156" cy="114300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4442154" y="5353111"/>
            <a:ext cx="3391509" cy="623621"/>
          </a:xfrm>
          <a:prstGeom prst="roundRect">
            <a:avLst>
              <a:gd name="adj" fmla="val 212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6"/>
          <p:cNvSpPr txBox="1"/>
          <p:nvPr/>
        </p:nvSpPr>
        <p:spPr>
          <a:xfrm>
            <a:off x="4745736" y="5436735"/>
            <a:ext cx="30732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추천 상황 </a:t>
            </a:r>
            <a:endParaRPr lang="en-US" sz="900" dirty="0"/>
          </a:p>
        </p:txBody>
      </p:sp>
      <p:sp>
        <p:nvSpPr>
          <p:cNvPr id="45" name="Text 37"/>
          <p:cNvSpPr txBox="1"/>
          <p:nvPr/>
        </p:nvSpPr>
        <p:spPr>
          <a:xfrm>
            <a:off x="4539082" y="5703095"/>
            <a:ext cx="3258007" cy="204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위주지만 목차/</a:t>
            </a:r>
            <a:r>
              <a:rPr lang="en-US" sz="9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구조가</a:t>
            </a: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9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중요할</a:t>
            </a: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때, 가독성을 높이고 싶을 때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8178394" y="1090180"/>
            <a:ext cx="3715207" cy="5086807"/>
          </a:xfrm>
          <a:prstGeom prst="roundRect">
            <a:avLst>
              <a:gd name="adj" fmla="val 1515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39"/>
          <p:cNvSpPr/>
          <p:nvPr/>
        </p:nvSpPr>
        <p:spPr>
          <a:xfrm>
            <a:off x="8188452" y="2395943"/>
            <a:ext cx="3696005" cy="9144"/>
          </a:xfrm>
          <a:prstGeom prst="roundRect">
            <a:avLst>
              <a:gd name="adj" fmla="val 1751825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0"/>
          <p:cNvSpPr/>
          <p:nvPr/>
        </p:nvSpPr>
        <p:spPr>
          <a:xfrm>
            <a:off x="8378647" y="1290433"/>
            <a:ext cx="381305" cy="381305"/>
          </a:xfrm>
          <a:prstGeom prst="roundRect">
            <a:avLst>
              <a:gd name="adj" fmla="val 9592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7"/>
          <a:srcRect l="-1282" r="-1282"/>
          <a:stretch/>
        </p:blipFill>
        <p:spPr>
          <a:xfrm>
            <a:off x="8460029" y="1385531"/>
            <a:ext cx="219456" cy="190195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10878617" y="1290433"/>
            <a:ext cx="838505" cy="219456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Advanced</a:t>
            </a:r>
            <a:endParaRPr lang="en-US" sz="800" dirty="0"/>
          </a:p>
        </p:txBody>
      </p:sp>
      <p:sp>
        <p:nvSpPr>
          <p:cNvPr id="51" name="Text 42"/>
          <p:cNvSpPr txBox="1"/>
          <p:nvPr/>
        </p:nvSpPr>
        <p:spPr>
          <a:xfrm>
            <a:off x="8378647" y="1747633"/>
            <a:ext cx="3429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VLM (Vision)</a:t>
            </a:r>
            <a:endParaRPr lang="en-US" sz="1500" dirty="0"/>
          </a:p>
        </p:txBody>
      </p:sp>
      <p:sp>
        <p:nvSpPr>
          <p:cNvPr id="52" name="Text 43"/>
          <p:cNvSpPr txBox="1"/>
          <p:nvPr/>
        </p:nvSpPr>
        <p:spPr>
          <a:xfrm>
            <a:off x="8378647" y="2052128"/>
            <a:ext cx="35058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기반 시각적 해석</a:t>
            </a:r>
            <a:endParaRPr lang="en-US" sz="900" dirty="0"/>
          </a:p>
        </p:txBody>
      </p:sp>
      <p:sp>
        <p:nvSpPr>
          <p:cNvPr id="53" name="Text 44"/>
          <p:cNvSpPr txBox="1"/>
          <p:nvPr/>
        </p:nvSpPr>
        <p:spPr>
          <a:xfrm>
            <a:off x="8378647" y="2595282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Mechanism</a:t>
            </a:r>
            <a:endParaRPr lang="en-US" sz="900" dirty="0"/>
          </a:p>
        </p:txBody>
      </p:sp>
      <p:sp>
        <p:nvSpPr>
          <p:cNvPr id="54" name="Text 45"/>
          <p:cNvSpPr txBox="1"/>
          <p:nvPr/>
        </p:nvSpPr>
        <p:spPr>
          <a:xfrm>
            <a:off x="8378647" y="2823882"/>
            <a:ext cx="33915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페이지를 </a:t>
            </a: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이미지로 캡처</a:t>
            </a: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후 GPT-4o 등이 시각적으로 정보 해석 </a:t>
            </a:r>
            <a:endParaRPr lang="en-US" sz="1000" dirty="0"/>
          </a:p>
        </p:txBody>
      </p:sp>
      <p:sp>
        <p:nvSpPr>
          <p:cNvPr id="55" name="Text 46"/>
          <p:cNvSpPr txBox="1"/>
          <p:nvPr/>
        </p:nvSpPr>
        <p:spPr>
          <a:xfrm>
            <a:off x="8378647" y="3509682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Pros &amp; Cons</a:t>
            </a:r>
            <a:endParaRPr lang="en-US" sz="900" dirty="0"/>
          </a:p>
        </p:txBody>
      </p:sp>
      <p:sp>
        <p:nvSpPr>
          <p:cNvPr id="56" name="Text 47"/>
          <p:cNvSpPr txBox="1"/>
          <p:nvPr/>
        </p:nvSpPr>
        <p:spPr>
          <a:xfrm>
            <a:off x="8559698" y="3738282"/>
            <a:ext cx="3324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표/그래프 수치 정확히 인식</a:t>
            </a:r>
            <a:endParaRPr lang="en-US" sz="1200" dirty="0"/>
          </a:p>
        </p:txBody>
      </p:sp>
      <p:pic>
        <p:nvPicPr>
          <p:cNvPr id="57" name="Image 7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8378647" y="3776687"/>
            <a:ext cx="105156" cy="114300"/>
          </a:xfrm>
          <a:prstGeom prst="rect">
            <a:avLst/>
          </a:prstGeom>
        </p:spPr>
      </p:pic>
      <p:sp>
        <p:nvSpPr>
          <p:cNvPr id="58" name="Text 48"/>
          <p:cNvSpPr txBox="1"/>
          <p:nvPr/>
        </p:nvSpPr>
        <p:spPr>
          <a:xfrm>
            <a:off x="8559698" y="4005287"/>
            <a:ext cx="3324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레이아웃 정보(캡션 등) 보존</a:t>
            </a:r>
            <a:endParaRPr lang="en-US" sz="1200" dirty="0"/>
          </a:p>
        </p:txBody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8378647" y="4042777"/>
            <a:ext cx="105156" cy="114300"/>
          </a:xfrm>
          <a:prstGeom prst="rect">
            <a:avLst/>
          </a:prstGeom>
        </p:spPr>
      </p:pic>
      <p:sp>
        <p:nvSpPr>
          <p:cNvPr id="60" name="Shape 49"/>
          <p:cNvSpPr/>
          <p:nvPr/>
        </p:nvSpPr>
        <p:spPr>
          <a:xfrm>
            <a:off x="8378647" y="5353111"/>
            <a:ext cx="3314700" cy="623622"/>
          </a:xfrm>
          <a:prstGeom prst="roundRect">
            <a:avLst>
              <a:gd name="adj" fmla="val 212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0"/>
          <p:cNvSpPr txBox="1"/>
          <p:nvPr/>
        </p:nvSpPr>
        <p:spPr>
          <a:xfrm>
            <a:off x="8619134" y="5425384"/>
            <a:ext cx="2948025" cy="12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추천 상황 </a:t>
            </a:r>
            <a:endParaRPr lang="en-US" sz="900" dirty="0"/>
          </a:p>
        </p:txBody>
      </p:sp>
      <p:sp>
        <p:nvSpPr>
          <p:cNvPr id="62" name="Text 51"/>
          <p:cNvSpPr txBox="1"/>
          <p:nvPr/>
        </p:nvSpPr>
        <p:spPr>
          <a:xfrm>
            <a:off x="8483803" y="5613931"/>
            <a:ext cx="3143707" cy="286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"정답이 표에 있다"가 많을 때, 재무제표/기술문서 등 그래프가 핵심일 때</a:t>
            </a:r>
            <a:endParaRPr lang="en-US" sz="900" dirty="0"/>
          </a:p>
        </p:txBody>
      </p:sp>
      <p:pic>
        <p:nvPicPr>
          <p:cNvPr id="63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29107" y="5500331"/>
            <a:ext cx="114300" cy="114300"/>
          </a:xfrm>
          <a:prstGeom prst="rect">
            <a:avLst/>
          </a:prstGeom>
        </p:spPr>
      </p:pic>
      <p:pic>
        <p:nvPicPr>
          <p:cNvPr id="64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561027" y="5460510"/>
            <a:ext cx="114300" cy="114300"/>
          </a:xfrm>
          <a:prstGeom prst="rect">
            <a:avLst/>
          </a:prstGeom>
        </p:spPr>
      </p:pic>
      <p:pic>
        <p:nvPicPr>
          <p:cNvPr id="65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494777" y="5423987"/>
            <a:ext cx="114300" cy="114300"/>
          </a:xfrm>
          <a:prstGeom prst="rect">
            <a:avLst/>
          </a:prstGeom>
        </p:spPr>
      </p:pic>
      <p:sp>
        <p:nvSpPr>
          <p:cNvPr id="66" name="Text 52"/>
          <p:cNvSpPr txBox="1"/>
          <p:nvPr/>
        </p:nvSpPr>
        <p:spPr>
          <a:xfrm>
            <a:off x="666598" y="4271377"/>
            <a:ext cx="3343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표/다단 편집 시 순서 섞임</a:t>
            </a:r>
            <a:endParaRPr lang="en-US" sz="1200" dirty="0"/>
          </a:p>
        </p:txBody>
      </p:sp>
      <p:pic>
        <p:nvPicPr>
          <p:cNvPr id="67" name="Image 12" descr="preencoded.png"/>
          <p:cNvPicPr>
            <a:picLocks noChangeAspect="1"/>
          </p:cNvPicPr>
          <p:nvPr/>
        </p:nvPicPr>
        <p:blipFill>
          <a:blip r:embed="rId12">
            <a:alphaModFix amt="70000"/>
          </a:blip>
          <a:srcRect l="-133" r="-133"/>
          <a:stretch/>
        </p:blipFill>
        <p:spPr>
          <a:xfrm>
            <a:off x="504749" y="4309782"/>
            <a:ext cx="85954" cy="114300"/>
          </a:xfrm>
          <a:prstGeom prst="rect">
            <a:avLst/>
          </a:prstGeom>
        </p:spPr>
      </p:pic>
      <p:sp>
        <p:nvSpPr>
          <p:cNvPr id="68" name="Text 53"/>
          <p:cNvSpPr txBox="1"/>
          <p:nvPr/>
        </p:nvSpPr>
        <p:spPr>
          <a:xfrm>
            <a:off x="666598" y="4538382"/>
            <a:ext cx="3343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이미지/그래프 정보 누락</a:t>
            </a:r>
            <a:endParaRPr lang="en-US" sz="1200" dirty="0"/>
          </a:p>
        </p:txBody>
      </p:sp>
      <p:pic>
        <p:nvPicPr>
          <p:cNvPr id="69" name="Image 13" descr="preencoded.png"/>
          <p:cNvPicPr>
            <a:picLocks noChangeAspect="1"/>
          </p:cNvPicPr>
          <p:nvPr/>
        </p:nvPicPr>
        <p:blipFill>
          <a:blip r:embed="rId12">
            <a:alphaModFix amt="70000"/>
          </a:blip>
          <a:srcRect l="-133" r="-133"/>
          <a:stretch/>
        </p:blipFill>
        <p:spPr>
          <a:xfrm>
            <a:off x="504749" y="4576787"/>
            <a:ext cx="85954" cy="114300"/>
          </a:xfrm>
          <a:prstGeom prst="rect">
            <a:avLst/>
          </a:prstGeom>
        </p:spPr>
      </p:pic>
      <p:sp>
        <p:nvSpPr>
          <p:cNvPr id="70" name="Text 54"/>
          <p:cNvSpPr txBox="1"/>
          <p:nvPr/>
        </p:nvSpPr>
        <p:spPr>
          <a:xfrm>
            <a:off x="4604004" y="4271377"/>
            <a:ext cx="3343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표 복원은 여전히 난해</a:t>
            </a:r>
            <a:endParaRPr lang="en-US" sz="1200" dirty="0"/>
          </a:p>
        </p:txBody>
      </p:sp>
      <p:pic>
        <p:nvPicPr>
          <p:cNvPr id="71" name="Image 14" descr="preencoded.png"/>
          <p:cNvPicPr>
            <a:picLocks noChangeAspect="1"/>
          </p:cNvPicPr>
          <p:nvPr/>
        </p:nvPicPr>
        <p:blipFill>
          <a:blip r:embed="rId12">
            <a:alphaModFix amt="70000"/>
          </a:blip>
          <a:srcRect l="-133" r="-133"/>
          <a:stretch/>
        </p:blipFill>
        <p:spPr>
          <a:xfrm>
            <a:off x="4442155" y="4309782"/>
            <a:ext cx="85954" cy="114300"/>
          </a:xfrm>
          <a:prstGeom prst="rect">
            <a:avLst/>
          </a:prstGeom>
        </p:spPr>
      </p:pic>
      <p:sp>
        <p:nvSpPr>
          <p:cNvPr id="72" name="Text 55"/>
          <p:cNvSpPr txBox="1"/>
          <p:nvPr/>
        </p:nvSpPr>
        <p:spPr>
          <a:xfrm>
            <a:off x="4604004" y="4538382"/>
            <a:ext cx="3343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포맷에 따라 성능 편차</a:t>
            </a:r>
            <a:endParaRPr lang="en-US" sz="1200" dirty="0"/>
          </a:p>
        </p:txBody>
      </p:sp>
      <p:pic>
        <p:nvPicPr>
          <p:cNvPr id="73" name="Image 15" descr="preencoded.png"/>
          <p:cNvPicPr>
            <a:picLocks noChangeAspect="1"/>
          </p:cNvPicPr>
          <p:nvPr/>
        </p:nvPicPr>
        <p:blipFill>
          <a:blip r:embed="rId12">
            <a:alphaModFix amt="70000"/>
          </a:blip>
          <a:srcRect l="-133" r="-133"/>
          <a:stretch/>
        </p:blipFill>
        <p:spPr>
          <a:xfrm>
            <a:off x="4442155" y="4576787"/>
            <a:ext cx="85954" cy="114300"/>
          </a:xfrm>
          <a:prstGeom prst="rect">
            <a:avLst/>
          </a:prstGeom>
        </p:spPr>
      </p:pic>
      <p:sp>
        <p:nvSpPr>
          <p:cNvPr id="74" name="Text 56"/>
          <p:cNvSpPr txBox="1"/>
          <p:nvPr/>
        </p:nvSpPr>
        <p:spPr>
          <a:xfrm>
            <a:off x="8540496" y="4271377"/>
            <a:ext cx="3343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높음, 속도 느림</a:t>
            </a:r>
            <a:endParaRPr lang="en-US" sz="1200" dirty="0"/>
          </a:p>
        </p:txBody>
      </p:sp>
      <p:pic>
        <p:nvPicPr>
          <p:cNvPr id="75" name="Image 16" descr="preencoded.png"/>
          <p:cNvPicPr>
            <a:picLocks noChangeAspect="1"/>
          </p:cNvPicPr>
          <p:nvPr/>
        </p:nvPicPr>
        <p:blipFill>
          <a:blip r:embed="rId12">
            <a:alphaModFix amt="70000"/>
          </a:blip>
          <a:srcRect l="-133" r="-133"/>
          <a:stretch/>
        </p:blipFill>
        <p:spPr>
          <a:xfrm>
            <a:off x="8378647" y="4309782"/>
            <a:ext cx="85954" cy="114300"/>
          </a:xfrm>
          <a:prstGeom prst="rect">
            <a:avLst/>
          </a:prstGeom>
        </p:spPr>
      </p:pic>
      <p:sp>
        <p:nvSpPr>
          <p:cNvPr id="76" name="Text 57"/>
          <p:cNvSpPr txBox="1"/>
          <p:nvPr/>
        </p:nvSpPr>
        <p:spPr>
          <a:xfrm>
            <a:off x="8540496" y="4538382"/>
            <a:ext cx="3343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작은 글씨 오인식 가능성</a:t>
            </a:r>
            <a:endParaRPr lang="en-US" sz="1200" dirty="0"/>
          </a:p>
        </p:txBody>
      </p:sp>
      <p:pic>
        <p:nvPicPr>
          <p:cNvPr id="77" name="Image 17" descr="preencoded.png"/>
          <p:cNvPicPr>
            <a:picLocks noChangeAspect="1"/>
          </p:cNvPicPr>
          <p:nvPr/>
        </p:nvPicPr>
        <p:blipFill>
          <a:blip r:embed="rId12">
            <a:alphaModFix amt="70000"/>
          </a:blip>
          <a:srcRect l="-133" r="-133"/>
          <a:stretch/>
        </p:blipFill>
        <p:spPr>
          <a:xfrm>
            <a:off x="8378647" y="4576787"/>
            <a:ext cx="85954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84346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57200" y="4784"/>
            <a:ext cx="1476756" cy="190195"/>
          </a:xfrm>
          <a:prstGeom prst="roundRect">
            <a:avLst>
              <a:gd name="adj" fmla="val 288462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457200" y="4784"/>
            <a:ext cx="1552651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Chunking Strategy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2000707" y="23986"/>
            <a:ext cx="124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2122322" y="23986"/>
            <a:ext cx="991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Indexing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70874"/>
            <a:ext cx="720638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r>
              <a:rPr lang="en-US" altLang="ko-KR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hunking &amp; Recursive Character Text Splitter</a:t>
            </a:r>
            <a:endParaRPr lang="en-US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8980322" y="509533"/>
            <a:ext cx="27587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문맥을 보존하는 스마트한 문서 분할 전략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20" b="-20"/>
          <a:stretch/>
        </p:blipFill>
        <p:spPr>
          <a:xfrm>
            <a:off x="381305" y="905741"/>
            <a:ext cx="5562295" cy="131490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66851" y="1143485"/>
            <a:ext cx="50292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왜 문서를 쪼개야 하는가? </a:t>
            </a:r>
            <a:endParaRPr lang="en-US" sz="13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9049" y="1191034"/>
            <a:ext cx="171907" cy="171907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619049" y="1581483"/>
            <a:ext cx="105156" cy="1143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00100" y="1524790"/>
            <a:ext cx="43516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단위 최적화:</a:t>
            </a: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문서 전체는 너무 크고, 답은 특정 문단에 있음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619049" y="1848488"/>
            <a:ext cx="105156" cy="1143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00100" y="1791795"/>
            <a:ext cx="33128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제한:</a:t>
            </a: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Context Window 한계 및 비용 효율성</a:t>
            </a:r>
            <a:endParaRPr lang="en-US" sz="10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6248095" y="905741"/>
            <a:ext cx="5562295" cy="3019349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486754" y="1143485"/>
            <a:ext cx="5277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파라미터 설계</a:t>
            </a:r>
            <a:endParaRPr lang="en-US" sz="1300" dirty="0"/>
          </a:p>
        </p:txBody>
      </p:sp>
      <p:sp>
        <p:nvSpPr>
          <p:cNvPr id="21" name="Text 13"/>
          <p:cNvSpPr txBox="1"/>
          <p:nvPr/>
        </p:nvSpPr>
        <p:spPr>
          <a:xfrm>
            <a:off x="6486754" y="1563195"/>
            <a:ext cx="114482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 Small (파편화)</a:t>
            </a:r>
            <a:endParaRPr lang="en-US" sz="900" dirty="0"/>
          </a:p>
        </p:txBody>
      </p:sp>
      <p:sp>
        <p:nvSpPr>
          <p:cNvPr id="22" name="Text 14"/>
          <p:cNvSpPr txBox="1"/>
          <p:nvPr/>
        </p:nvSpPr>
        <p:spPr>
          <a:xfrm>
            <a:off x="10508285" y="1563195"/>
            <a:ext cx="126370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 Large (정밀도↓)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6486753" y="1943585"/>
            <a:ext cx="562813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Chunk Size:</a:t>
            </a: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보통 500~1000 토큰 내외 권장. 너무 작으면 문맥이 잘리고, 너무 크면 불필요한 정보가 섞여 검색 정확도가 떨어짐. </a:t>
            </a:r>
            <a:endParaRPr lang="en-US" sz="900" dirty="0"/>
          </a:p>
        </p:txBody>
      </p:sp>
      <p:sp>
        <p:nvSpPr>
          <p:cNvPr id="24" name="Text 16"/>
          <p:cNvSpPr txBox="1"/>
          <p:nvPr/>
        </p:nvSpPr>
        <p:spPr>
          <a:xfrm>
            <a:off x="6486754" y="2400911"/>
            <a:ext cx="5201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Overlap의 중요성</a:t>
            </a:r>
            <a:endParaRPr lang="en-US" sz="1000" dirty="0"/>
          </a:p>
        </p:txBody>
      </p:sp>
      <p:sp>
        <p:nvSpPr>
          <p:cNvPr id="25" name="Text 17"/>
          <p:cNvSpPr txBox="1"/>
          <p:nvPr/>
        </p:nvSpPr>
        <p:spPr>
          <a:xfrm>
            <a:off x="6486754" y="3391206"/>
            <a:ext cx="57726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Overlap:</a:t>
            </a: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보통 10~20% (100~200자). 문장이 청크 사이에서 뚝 끊겨 의미를 잃는 것을 방지하는 안전장치. </a:t>
            </a:r>
            <a:endParaRPr lang="en-US" sz="9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8"/>
          <a:srcRect l="-2" r="-2"/>
          <a:stretch/>
        </p:blipFill>
        <p:spPr>
          <a:xfrm>
            <a:off x="6248095" y="3839929"/>
            <a:ext cx="5562295" cy="2780636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734556" y="3701151"/>
            <a:ext cx="4953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실무 적용 Tip </a:t>
            </a:r>
            <a:endParaRPr lang="en-US" sz="13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486754" y="3748700"/>
            <a:ext cx="171907" cy="171907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6486754" y="4120861"/>
            <a:ext cx="5086807" cy="629107"/>
          </a:xfrm>
          <a:prstGeom prst="roundRect">
            <a:avLst>
              <a:gd name="adj" fmla="val 1761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0"/>
          <p:cNvSpPr txBox="1"/>
          <p:nvPr/>
        </p:nvSpPr>
        <p:spPr>
          <a:xfrm>
            <a:off x="6547443" y="4244305"/>
            <a:ext cx="11667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텍스트 문서</a:t>
            </a:r>
            <a:endParaRPr lang="en-US" sz="1000" dirty="0"/>
          </a:p>
        </p:txBody>
      </p:sp>
      <p:sp>
        <p:nvSpPr>
          <p:cNvPr id="31" name="Text 21"/>
          <p:cNvSpPr txBox="1"/>
          <p:nvPr/>
        </p:nvSpPr>
        <p:spPr>
          <a:xfrm>
            <a:off x="11051438" y="4263507"/>
            <a:ext cx="476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Easy</a:t>
            </a:r>
            <a:endParaRPr lang="en-US" sz="900" dirty="0"/>
          </a:p>
        </p:txBody>
      </p:sp>
      <p:sp>
        <p:nvSpPr>
          <p:cNvPr id="32" name="Text 22"/>
          <p:cNvSpPr txBox="1"/>
          <p:nvPr/>
        </p:nvSpPr>
        <p:spPr>
          <a:xfrm>
            <a:off x="6547443" y="4472905"/>
            <a:ext cx="4953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Size 1000, Overlap 200 설정이 국룰(Baseline). RecursiveSplitter로 충분함.</a:t>
            </a:r>
            <a:endParaRPr lang="en-US" sz="900" dirty="0"/>
          </a:p>
        </p:txBody>
      </p:sp>
      <p:sp>
        <p:nvSpPr>
          <p:cNvPr id="33" name="Shape 23"/>
          <p:cNvSpPr/>
          <p:nvPr/>
        </p:nvSpPr>
        <p:spPr>
          <a:xfrm>
            <a:off x="6486754" y="4863354"/>
            <a:ext cx="5086807" cy="780898"/>
          </a:xfrm>
          <a:prstGeom prst="roundRect">
            <a:avLst>
              <a:gd name="adj" fmla="val 1142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4"/>
          <p:cNvSpPr txBox="1"/>
          <p:nvPr/>
        </p:nvSpPr>
        <p:spPr>
          <a:xfrm>
            <a:off x="6547443" y="4987712"/>
            <a:ext cx="153802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표/리스트가 많은 문서</a:t>
            </a:r>
            <a:endParaRPr lang="en-US" sz="1000" dirty="0"/>
          </a:p>
        </p:txBody>
      </p:sp>
      <p:sp>
        <p:nvSpPr>
          <p:cNvPr id="35" name="Text 25"/>
          <p:cNvSpPr txBox="1"/>
          <p:nvPr/>
        </p:nvSpPr>
        <p:spPr>
          <a:xfrm>
            <a:off x="11035894" y="5006000"/>
            <a:ext cx="495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Hard</a:t>
            </a:r>
            <a:endParaRPr lang="en-US" sz="900" dirty="0"/>
          </a:p>
        </p:txBody>
      </p:sp>
      <p:sp>
        <p:nvSpPr>
          <p:cNvPr id="36" name="Text 26"/>
          <p:cNvSpPr txBox="1"/>
          <p:nvPr/>
        </p:nvSpPr>
        <p:spPr>
          <a:xfrm>
            <a:off x="6547443" y="5216312"/>
            <a:ext cx="498348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단순 청킹 시 표가 깨짐. HeaderMarkdownSplitter를 쓰거나 표를 별도 추출하여 요약본만 청킹해야 함. </a:t>
            </a:r>
            <a:endParaRPr lang="en-US" sz="900" dirty="0"/>
          </a:p>
        </p:txBody>
      </p:sp>
      <p:sp>
        <p:nvSpPr>
          <p:cNvPr id="37" name="Shape 27"/>
          <p:cNvSpPr/>
          <p:nvPr/>
        </p:nvSpPr>
        <p:spPr>
          <a:xfrm>
            <a:off x="6486754" y="5794412"/>
            <a:ext cx="5086807" cy="629107"/>
          </a:xfrm>
          <a:prstGeom prst="roundRect">
            <a:avLst>
              <a:gd name="adj" fmla="val 1761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8"/>
          <p:cNvSpPr txBox="1"/>
          <p:nvPr/>
        </p:nvSpPr>
        <p:spPr>
          <a:xfrm>
            <a:off x="6610198" y="5882910"/>
            <a:ext cx="10259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코드/법률 문서</a:t>
            </a:r>
            <a:endParaRPr lang="en-US" sz="1000" dirty="0"/>
          </a:p>
        </p:txBody>
      </p:sp>
      <p:sp>
        <p:nvSpPr>
          <p:cNvPr id="39" name="Text 29"/>
          <p:cNvSpPr txBox="1"/>
          <p:nvPr/>
        </p:nvSpPr>
        <p:spPr>
          <a:xfrm>
            <a:off x="10907878" y="5902112"/>
            <a:ext cx="6199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Special</a:t>
            </a:r>
            <a:endParaRPr lang="en-US" sz="900" dirty="0"/>
          </a:p>
        </p:txBody>
      </p:sp>
      <p:sp>
        <p:nvSpPr>
          <p:cNvPr id="40" name="Text 30"/>
          <p:cNvSpPr txBox="1"/>
          <p:nvPr/>
        </p:nvSpPr>
        <p:spPr>
          <a:xfrm>
            <a:off x="6610198" y="6111510"/>
            <a:ext cx="498348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문법적 구조(함수, 조항 등)를 지키는 전용 Splitter (LanguageSplitter) 사용 권장.</a:t>
            </a:r>
            <a:endParaRPr lang="en-US" sz="900" dirty="0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0"/>
          <a:srcRect t="-4" b="-4"/>
          <a:stretch/>
        </p:blipFill>
        <p:spPr>
          <a:xfrm>
            <a:off x="381305" y="2824855"/>
            <a:ext cx="5562295" cy="3584909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866851" y="2482687"/>
            <a:ext cx="49057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동작 원리: 재귀적 분할 (Recursive) </a:t>
            </a:r>
            <a:endParaRPr lang="en-US" sz="1300" dirty="0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1"/>
          <a:srcRect l="-1064" r="-1064"/>
          <a:stretch/>
        </p:blipFill>
        <p:spPr>
          <a:xfrm>
            <a:off x="571500" y="2530235"/>
            <a:ext cx="219456" cy="171907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619049" y="3105788"/>
            <a:ext cx="5277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"의미 단위"를 최대한 유지하기 위해 큰 구분자부터 순차적으로 시도하며 자릅니다.</a:t>
            </a:r>
            <a:endParaRPr lang="en-US" sz="900" dirty="0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2"/>
          <a:srcRect l="-396" r="-396"/>
          <a:stretch/>
        </p:blipFill>
        <p:spPr>
          <a:xfrm>
            <a:off x="669884" y="3621103"/>
            <a:ext cx="19202" cy="1733702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685800" y="3620595"/>
            <a:ext cx="152705" cy="19202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34"/>
          <p:cNvSpPr/>
          <p:nvPr/>
        </p:nvSpPr>
        <p:spPr>
          <a:xfrm>
            <a:off x="923544" y="3487093"/>
            <a:ext cx="4781398" cy="666598"/>
          </a:xfrm>
          <a:prstGeom prst="roundRect">
            <a:avLst>
              <a:gd name="adj" fmla="val 15677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35"/>
          <p:cNvSpPr txBox="1"/>
          <p:nvPr/>
        </p:nvSpPr>
        <p:spPr>
          <a:xfrm>
            <a:off x="1047902" y="3648941"/>
            <a:ext cx="11228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문단 단위 (\n\n)</a:t>
            </a:r>
            <a:endParaRPr lang="en-US" sz="900" dirty="0"/>
          </a:p>
        </p:txBody>
      </p:sp>
      <p:sp>
        <p:nvSpPr>
          <p:cNvPr id="49" name="Text 36"/>
          <p:cNvSpPr txBox="1"/>
          <p:nvPr/>
        </p:nvSpPr>
        <p:spPr>
          <a:xfrm>
            <a:off x="4679899" y="3610537"/>
            <a:ext cx="1077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Priority High</a:t>
            </a:r>
            <a:endParaRPr lang="en-US" sz="1200" dirty="0"/>
          </a:p>
        </p:txBody>
      </p:sp>
      <p:sp>
        <p:nvSpPr>
          <p:cNvPr id="50" name="Text 37"/>
          <p:cNvSpPr txBox="1"/>
          <p:nvPr/>
        </p:nvSpPr>
        <p:spPr>
          <a:xfrm>
            <a:off x="1047902" y="3877541"/>
            <a:ext cx="47247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먼저 문단 간격으로 잘라본다. </a:t>
            </a:r>
            <a:r>
              <a:rPr lang="en-US" sz="900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여전히 크다면?</a:t>
            </a:r>
            <a:endParaRPr lang="en-US" sz="900" dirty="0"/>
          </a:p>
        </p:txBody>
      </p:sp>
      <p:sp>
        <p:nvSpPr>
          <p:cNvPr id="51" name="Shape 38"/>
          <p:cNvSpPr/>
          <p:nvPr/>
        </p:nvSpPr>
        <p:spPr>
          <a:xfrm>
            <a:off x="685800" y="4515793"/>
            <a:ext cx="152705" cy="19202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39"/>
          <p:cNvSpPr/>
          <p:nvPr/>
        </p:nvSpPr>
        <p:spPr>
          <a:xfrm>
            <a:off x="1076249" y="4382290"/>
            <a:ext cx="4629607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0"/>
          <p:cNvSpPr txBox="1"/>
          <p:nvPr/>
        </p:nvSpPr>
        <p:spPr>
          <a:xfrm>
            <a:off x="1200607" y="4505734"/>
            <a:ext cx="986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문장 단위 (\n)</a:t>
            </a:r>
            <a:endParaRPr lang="en-US" sz="900" dirty="0"/>
          </a:p>
        </p:txBody>
      </p:sp>
      <p:sp>
        <p:nvSpPr>
          <p:cNvPr id="54" name="Text 41"/>
          <p:cNvSpPr txBox="1"/>
          <p:nvPr/>
        </p:nvSpPr>
        <p:spPr>
          <a:xfrm>
            <a:off x="1200607" y="4696844"/>
            <a:ext cx="4572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줄바꿈 기준으로 나눈다. </a:t>
            </a:r>
            <a:r>
              <a:rPr lang="en-US" sz="900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그래도 크다면?</a:t>
            </a:r>
            <a:endParaRPr lang="en-US" sz="900" dirty="0"/>
          </a:p>
        </p:txBody>
      </p:sp>
      <p:sp>
        <p:nvSpPr>
          <p:cNvPr id="55" name="Shape 42"/>
          <p:cNvSpPr/>
          <p:nvPr/>
        </p:nvSpPr>
        <p:spPr>
          <a:xfrm>
            <a:off x="685800" y="5335095"/>
            <a:ext cx="152705" cy="19202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43"/>
          <p:cNvSpPr/>
          <p:nvPr/>
        </p:nvSpPr>
        <p:spPr>
          <a:xfrm>
            <a:off x="1228954" y="5201593"/>
            <a:ext cx="4476902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4"/>
          <p:cNvSpPr txBox="1"/>
          <p:nvPr/>
        </p:nvSpPr>
        <p:spPr>
          <a:xfrm>
            <a:off x="1352398" y="5325037"/>
            <a:ext cx="12929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단어/문자 (" ", "")</a:t>
            </a:r>
            <a:endParaRPr lang="en-US" sz="900" dirty="0"/>
          </a:p>
        </p:txBody>
      </p:sp>
      <p:sp>
        <p:nvSpPr>
          <p:cNvPr id="58" name="Text 45"/>
          <p:cNvSpPr txBox="1"/>
          <p:nvPr/>
        </p:nvSpPr>
        <p:spPr>
          <a:xfrm>
            <a:off x="1352398" y="5516146"/>
            <a:ext cx="4343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공백이나 문자 단위로 쪼개어 chunk_size를 맞춘다.</a:t>
            </a:r>
            <a:endParaRPr lang="en-US" sz="900" dirty="0"/>
          </a:p>
        </p:txBody>
      </p:sp>
      <p:pic>
        <p:nvPicPr>
          <p:cNvPr id="59" name="Image 11" descr="preencoded.png"/>
          <p:cNvPicPr>
            <a:picLocks noChangeAspect="1"/>
          </p:cNvPicPr>
          <p:nvPr/>
        </p:nvPicPr>
        <p:blipFill>
          <a:blip r:embed="rId13"/>
          <a:srcRect l="-196" r="-196"/>
          <a:stretch/>
        </p:blipFill>
        <p:spPr>
          <a:xfrm>
            <a:off x="8317699" y="1571672"/>
            <a:ext cx="1695298" cy="75895"/>
          </a:xfrm>
          <a:prstGeom prst="rect">
            <a:avLst/>
          </a:prstGeom>
        </p:spPr>
      </p:pic>
      <p:sp>
        <p:nvSpPr>
          <p:cNvPr id="60" name="Shape 46"/>
          <p:cNvSpPr/>
          <p:nvPr/>
        </p:nvSpPr>
        <p:spPr>
          <a:xfrm>
            <a:off x="6585369" y="2667002"/>
            <a:ext cx="5086807" cy="609905"/>
          </a:xfrm>
          <a:prstGeom prst="roundRect">
            <a:avLst>
              <a:gd name="adj" fmla="val 1874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47"/>
          <p:cNvSpPr/>
          <p:nvPr/>
        </p:nvSpPr>
        <p:spPr>
          <a:xfrm>
            <a:off x="9128315" y="2677060"/>
            <a:ext cx="9144" cy="590702"/>
          </a:xfrm>
          <a:prstGeom prst="roundRect">
            <a:avLst>
              <a:gd name="adj" fmla="val 1290323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48"/>
          <p:cNvSpPr txBox="1"/>
          <p:nvPr/>
        </p:nvSpPr>
        <p:spPr>
          <a:xfrm>
            <a:off x="10326179" y="2895602"/>
            <a:ext cx="5340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Chunk B</a:t>
            </a:r>
            <a:endParaRPr lang="en-US" sz="900" dirty="0"/>
          </a:p>
        </p:txBody>
      </p:sp>
      <p:sp>
        <p:nvSpPr>
          <p:cNvPr id="64" name="Text 49"/>
          <p:cNvSpPr txBox="1"/>
          <p:nvPr/>
        </p:nvSpPr>
        <p:spPr>
          <a:xfrm>
            <a:off x="7865528" y="3036402"/>
            <a:ext cx="25347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 문장이 경계에 걸칠 때 보호</a:t>
            </a:r>
            <a:endParaRPr lang="en-US" sz="1200" dirty="0"/>
          </a:p>
        </p:txBody>
      </p:sp>
      <p:sp>
        <p:nvSpPr>
          <p:cNvPr id="65" name="Shape 50"/>
          <p:cNvSpPr/>
          <p:nvPr/>
        </p:nvSpPr>
        <p:spPr>
          <a:xfrm>
            <a:off x="9966820" y="2677060"/>
            <a:ext cx="9144" cy="590702"/>
          </a:xfrm>
          <a:prstGeom prst="roundRect">
            <a:avLst>
              <a:gd name="adj" fmla="val 1290323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51"/>
          <p:cNvSpPr txBox="1"/>
          <p:nvPr/>
        </p:nvSpPr>
        <p:spPr>
          <a:xfrm>
            <a:off x="8055724" y="2895602"/>
            <a:ext cx="523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Chunk 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830329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3751"/>
            <a:ext cx="1476756" cy="190195"/>
          </a:xfrm>
          <a:prstGeom prst="roundRect">
            <a:avLst>
              <a:gd name="adj" fmla="val 288462"/>
            </a:avLst>
          </a:prstGeom>
          <a:solidFill>
            <a:srgbClr val="312E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3751"/>
            <a:ext cx="1552651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Retrieval Strategy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003450" y="32953"/>
            <a:ext cx="124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124151" y="32953"/>
            <a:ext cx="15681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Search Optimization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79841"/>
            <a:ext cx="5845759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방식 비교: FAISS vs BM25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9253728" y="441690"/>
            <a:ext cx="2483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 기반 검색과 키워드 매칭의 조화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4495" y="1099144"/>
            <a:ext cx="3715207" cy="5086807"/>
          </a:xfrm>
          <a:prstGeom prst="roundRect">
            <a:avLst>
              <a:gd name="adj" fmla="val 1515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14554" y="2404907"/>
            <a:ext cx="3696005" cy="9144"/>
          </a:xfrm>
          <a:prstGeom prst="roundRect">
            <a:avLst>
              <a:gd name="adj" fmla="val 1751825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04749" y="1299397"/>
            <a:ext cx="381305" cy="381305"/>
          </a:xfrm>
          <a:prstGeom prst="roundRect">
            <a:avLst>
              <a:gd name="adj" fmla="val 9592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586130" y="1394495"/>
            <a:ext cx="219456" cy="19019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027578" y="1299397"/>
            <a:ext cx="819302" cy="219456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Semantic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504749" y="1756597"/>
            <a:ext cx="3429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FAISS (Vector)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04749" y="2061092"/>
            <a:ext cx="35058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의미적 유사도 기반 검색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04749" y="2604246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Mechanism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04749" y="2832846"/>
            <a:ext cx="339151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질문과 문서를 </a:t>
            </a: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임베딩 벡터</a:t>
            </a: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변환하여 의미적 거리가 가까운 것을 찾음 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04749" y="3570767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Pros &amp; Cons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3799367"/>
            <a:ext cx="3324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표현이 달라도 의미가 통하면 찾음</a:t>
            </a:r>
            <a:endParaRPr lang="en-US" sz="12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504749" y="3837772"/>
            <a:ext cx="105156" cy="11430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85800" y="4066372"/>
            <a:ext cx="32479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"매출 감소" ≈ "실적 하락" 매칭</a:t>
            </a:r>
            <a:endParaRPr lang="en-US" sz="12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504749" y="4104776"/>
            <a:ext cx="105156" cy="11430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04749" y="5176453"/>
            <a:ext cx="3314700" cy="809244"/>
          </a:xfrm>
          <a:prstGeom prst="roundRect">
            <a:avLst>
              <a:gd name="adj" fmla="val 212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2"/>
          <p:cNvSpPr txBox="1"/>
          <p:nvPr/>
        </p:nvSpPr>
        <p:spPr>
          <a:xfrm>
            <a:off x="813816" y="5299897"/>
            <a:ext cx="30732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추천 상황 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629107" y="5490092"/>
            <a:ext cx="31437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질문 표현이 다양하거나, 추상적인 개념을 검색해야 할 때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241902" y="1099144"/>
            <a:ext cx="3715207" cy="5086807"/>
          </a:xfrm>
          <a:prstGeom prst="roundRect">
            <a:avLst>
              <a:gd name="adj" fmla="val 1515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4251046" y="2404907"/>
            <a:ext cx="3696005" cy="9144"/>
          </a:xfrm>
          <a:prstGeom prst="roundRect">
            <a:avLst>
              <a:gd name="adj" fmla="val 1751825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6"/>
          <p:cNvSpPr/>
          <p:nvPr/>
        </p:nvSpPr>
        <p:spPr>
          <a:xfrm>
            <a:off x="4442155" y="1299397"/>
            <a:ext cx="381305" cy="381305"/>
          </a:xfrm>
          <a:prstGeom prst="roundRect">
            <a:avLst>
              <a:gd name="adj" fmla="val 9592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4546397" y="1394495"/>
            <a:ext cx="171907" cy="190195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083857" y="1299397"/>
            <a:ext cx="695858" cy="219456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Lexical</a:t>
            </a:r>
            <a:endParaRPr lang="en-US" sz="800" dirty="0"/>
          </a:p>
        </p:txBody>
      </p:sp>
      <p:sp>
        <p:nvSpPr>
          <p:cNvPr id="34" name="Text 28"/>
          <p:cNvSpPr txBox="1"/>
          <p:nvPr/>
        </p:nvSpPr>
        <p:spPr>
          <a:xfrm>
            <a:off x="4442155" y="1756597"/>
            <a:ext cx="3429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BM25 (Keyword)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4442155" y="2061092"/>
            <a:ext cx="35058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단어 빈도 기반 확률적 매칭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4442155" y="2604246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Mechanism</a:t>
            </a:r>
            <a:endParaRPr lang="en-US" sz="900" dirty="0"/>
          </a:p>
        </p:txBody>
      </p:sp>
      <p:sp>
        <p:nvSpPr>
          <p:cNvPr id="37" name="Text 31"/>
          <p:cNvSpPr txBox="1"/>
          <p:nvPr/>
        </p:nvSpPr>
        <p:spPr>
          <a:xfrm>
            <a:off x="4442155" y="2832846"/>
            <a:ext cx="339151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TF(빈도)와 IDF(희소성)</a:t>
            </a: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점수를 기반으로 정확히 일치하는 단어를 찾음 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4442155" y="3570767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Pros &amp; Cons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4623206" y="3799367"/>
            <a:ext cx="3324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숫자, 모델명, 약어 정확도 매우 높음</a:t>
            </a:r>
            <a:endParaRPr lang="en-US" sz="120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4442155" y="3837772"/>
            <a:ext cx="105156" cy="114300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4623206" y="4066372"/>
            <a:ext cx="32479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특화 용어("YoY", "EBITDA")</a:t>
            </a:r>
            <a:endParaRPr lang="en-US" sz="120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4442155" y="4104776"/>
            <a:ext cx="105156" cy="114300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4442155" y="5362076"/>
            <a:ext cx="3314700" cy="629107"/>
          </a:xfrm>
          <a:prstGeom prst="roundRect">
            <a:avLst>
              <a:gd name="adj" fmla="val 3523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6"/>
          <p:cNvSpPr txBox="1"/>
          <p:nvPr/>
        </p:nvSpPr>
        <p:spPr>
          <a:xfrm>
            <a:off x="4750308" y="5485520"/>
            <a:ext cx="30732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추천 상황 </a:t>
            </a:r>
            <a:endParaRPr lang="en-US" sz="900" dirty="0"/>
          </a:p>
        </p:txBody>
      </p:sp>
      <p:sp>
        <p:nvSpPr>
          <p:cNvPr id="45" name="Text 37"/>
          <p:cNvSpPr txBox="1"/>
          <p:nvPr/>
        </p:nvSpPr>
        <p:spPr>
          <a:xfrm>
            <a:off x="4565599" y="5675716"/>
            <a:ext cx="36475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부품 번호, 사번, 특정 수치 등 정확한 키워드 매칭이 핵심일 때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8178394" y="1099144"/>
            <a:ext cx="3715207" cy="5086807"/>
          </a:xfrm>
          <a:prstGeom prst="roundRect">
            <a:avLst>
              <a:gd name="adj" fmla="val 1515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39"/>
          <p:cNvSpPr/>
          <p:nvPr/>
        </p:nvSpPr>
        <p:spPr>
          <a:xfrm>
            <a:off x="8188452" y="2404907"/>
            <a:ext cx="3696005" cy="9144"/>
          </a:xfrm>
          <a:prstGeom prst="roundRect">
            <a:avLst>
              <a:gd name="adj" fmla="val 1751825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0"/>
          <p:cNvSpPr/>
          <p:nvPr/>
        </p:nvSpPr>
        <p:spPr>
          <a:xfrm>
            <a:off x="8378647" y="1299397"/>
            <a:ext cx="381305" cy="381305"/>
          </a:xfrm>
          <a:prstGeom prst="roundRect">
            <a:avLst>
              <a:gd name="adj" fmla="val 9592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8460029" y="1394495"/>
            <a:ext cx="219456" cy="190195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11056010" y="1299397"/>
            <a:ext cx="667512" cy="219456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Hybrid</a:t>
            </a:r>
            <a:endParaRPr lang="en-US" sz="800" dirty="0"/>
          </a:p>
        </p:txBody>
      </p:sp>
      <p:sp>
        <p:nvSpPr>
          <p:cNvPr id="51" name="Text 42"/>
          <p:cNvSpPr txBox="1"/>
          <p:nvPr/>
        </p:nvSpPr>
        <p:spPr>
          <a:xfrm>
            <a:off x="8378647" y="1756597"/>
            <a:ext cx="3429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Ensemble (RRF)</a:t>
            </a:r>
            <a:endParaRPr lang="en-US" sz="1500" dirty="0"/>
          </a:p>
        </p:txBody>
      </p:sp>
      <p:sp>
        <p:nvSpPr>
          <p:cNvPr id="52" name="Text 43"/>
          <p:cNvSpPr txBox="1"/>
          <p:nvPr/>
        </p:nvSpPr>
        <p:spPr>
          <a:xfrm>
            <a:off x="8378647" y="2061092"/>
            <a:ext cx="35058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순위 기반 결합 전략</a:t>
            </a:r>
            <a:endParaRPr lang="en-US" sz="900" dirty="0"/>
          </a:p>
        </p:txBody>
      </p:sp>
      <p:sp>
        <p:nvSpPr>
          <p:cNvPr id="53" name="Text 44"/>
          <p:cNvSpPr txBox="1"/>
          <p:nvPr/>
        </p:nvSpPr>
        <p:spPr>
          <a:xfrm>
            <a:off x="8378647" y="2604246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Mechanism</a:t>
            </a:r>
            <a:endParaRPr lang="en-US" sz="900" dirty="0"/>
          </a:p>
        </p:txBody>
      </p:sp>
      <p:sp>
        <p:nvSpPr>
          <p:cNvPr id="54" name="Text 45"/>
          <p:cNvSpPr txBox="1"/>
          <p:nvPr/>
        </p:nvSpPr>
        <p:spPr>
          <a:xfrm>
            <a:off x="8378647" y="2832846"/>
            <a:ext cx="339151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FAISS와 BM25의 결과 순위를 </a:t>
            </a: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재조정(RRF)</a:t>
            </a: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최적의 결과를 도출 </a:t>
            </a:r>
            <a:endParaRPr lang="en-US" sz="1000" dirty="0"/>
          </a:p>
        </p:txBody>
      </p:sp>
      <p:sp>
        <p:nvSpPr>
          <p:cNvPr id="55" name="Text 46"/>
          <p:cNvSpPr txBox="1"/>
          <p:nvPr/>
        </p:nvSpPr>
        <p:spPr>
          <a:xfrm>
            <a:off x="8378647" y="3570767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Pros &amp; Cons</a:t>
            </a:r>
            <a:endParaRPr lang="en-US" sz="900" dirty="0"/>
          </a:p>
        </p:txBody>
      </p:sp>
      <p:sp>
        <p:nvSpPr>
          <p:cNvPr id="56" name="Text 47"/>
          <p:cNvSpPr txBox="1"/>
          <p:nvPr/>
        </p:nvSpPr>
        <p:spPr>
          <a:xfrm>
            <a:off x="8559698" y="3799367"/>
            <a:ext cx="3324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의미와 키워드 매칭의 장점 결합</a:t>
            </a:r>
            <a:endParaRPr lang="en-US" sz="1200" dirty="0"/>
          </a:p>
        </p:txBody>
      </p:sp>
      <p:pic>
        <p:nvPicPr>
          <p:cNvPr id="57" name="Image 7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8378647" y="3837772"/>
            <a:ext cx="105156" cy="114300"/>
          </a:xfrm>
          <a:prstGeom prst="rect">
            <a:avLst/>
          </a:prstGeom>
        </p:spPr>
      </p:pic>
      <p:sp>
        <p:nvSpPr>
          <p:cNvPr id="58" name="Text 48"/>
          <p:cNvSpPr txBox="1"/>
          <p:nvPr/>
        </p:nvSpPr>
        <p:spPr>
          <a:xfrm>
            <a:off x="8559698" y="4066372"/>
            <a:ext cx="3324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 문서가 포함될 확률(Recall) 극대화</a:t>
            </a:r>
            <a:endParaRPr lang="en-US" sz="1200" dirty="0"/>
          </a:p>
        </p:txBody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8378647" y="4104776"/>
            <a:ext cx="105156" cy="114300"/>
          </a:xfrm>
          <a:prstGeom prst="rect">
            <a:avLst/>
          </a:prstGeom>
        </p:spPr>
      </p:pic>
      <p:sp>
        <p:nvSpPr>
          <p:cNvPr id="60" name="Shape 49"/>
          <p:cNvSpPr/>
          <p:nvPr/>
        </p:nvSpPr>
        <p:spPr>
          <a:xfrm>
            <a:off x="8378647" y="5362076"/>
            <a:ext cx="3314700" cy="629107"/>
          </a:xfrm>
          <a:prstGeom prst="roundRect">
            <a:avLst>
              <a:gd name="adj" fmla="val 3523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0"/>
          <p:cNvSpPr txBox="1"/>
          <p:nvPr/>
        </p:nvSpPr>
        <p:spPr>
          <a:xfrm>
            <a:off x="8706002" y="5485520"/>
            <a:ext cx="29791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Best Practice </a:t>
            </a:r>
            <a:endParaRPr lang="en-US" sz="900" dirty="0"/>
          </a:p>
        </p:txBody>
      </p:sp>
      <p:sp>
        <p:nvSpPr>
          <p:cNvPr id="62" name="Text 51"/>
          <p:cNvSpPr txBox="1"/>
          <p:nvPr/>
        </p:nvSpPr>
        <p:spPr>
          <a:xfrm>
            <a:off x="8503006" y="5675716"/>
            <a:ext cx="32580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대부분의 실무 RAG 시스템에서 </a:t>
            </a: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권장되는 기본 구성</a:t>
            </a:r>
            <a:endParaRPr lang="en-US" sz="900" dirty="0"/>
          </a:p>
        </p:txBody>
      </p:sp>
      <p:pic>
        <p:nvPicPr>
          <p:cNvPr id="63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29107" y="5323672"/>
            <a:ext cx="114300" cy="114300"/>
          </a:xfrm>
          <a:prstGeom prst="rect">
            <a:avLst/>
          </a:prstGeom>
        </p:spPr>
      </p:pic>
      <p:pic>
        <p:nvPicPr>
          <p:cNvPr id="64" name="Image 10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65599" y="5509295"/>
            <a:ext cx="114300" cy="114300"/>
          </a:xfrm>
          <a:prstGeom prst="rect">
            <a:avLst/>
          </a:prstGeom>
        </p:spPr>
      </p:pic>
      <p:pic>
        <p:nvPicPr>
          <p:cNvPr id="65" name="Image 11" descr="preencoded.png"/>
          <p:cNvPicPr>
            <a:picLocks noChangeAspect="1"/>
          </p:cNvPicPr>
          <p:nvPr/>
        </p:nvPicPr>
        <p:blipFill>
          <a:blip r:embed="rId8"/>
          <a:srcRect l="-1911" r="-1911"/>
          <a:stretch/>
        </p:blipFill>
        <p:spPr>
          <a:xfrm>
            <a:off x="8503006" y="5509295"/>
            <a:ext cx="133502" cy="114300"/>
          </a:xfrm>
          <a:prstGeom prst="rect">
            <a:avLst/>
          </a:prstGeom>
        </p:spPr>
      </p:pic>
      <p:sp>
        <p:nvSpPr>
          <p:cNvPr id="66" name="Text 52"/>
          <p:cNvSpPr txBox="1"/>
          <p:nvPr/>
        </p:nvSpPr>
        <p:spPr>
          <a:xfrm>
            <a:off x="666598" y="4333376"/>
            <a:ext cx="3343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정확한 숫자, 고유명사, 약어에 취약</a:t>
            </a:r>
            <a:endParaRPr lang="en-US" sz="1200" dirty="0"/>
          </a:p>
        </p:txBody>
      </p:sp>
      <p:pic>
        <p:nvPicPr>
          <p:cNvPr id="67" name="Image 12" descr="preencoded.png"/>
          <p:cNvPicPr>
            <a:picLocks noChangeAspect="1"/>
          </p:cNvPicPr>
          <p:nvPr/>
        </p:nvPicPr>
        <p:blipFill>
          <a:blip r:embed="rId9">
            <a:alphaModFix amt="70000"/>
          </a:blip>
          <a:srcRect l="-133" r="-133"/>
          <a:stretch/>
        </p:blipFill>
        <p:spPr>
          <a:xfrm>
            <a:off x="504749" y="4370867"/>
            <a:ext cx="85954" cy="114300"/>
          </a:xfrm>
          <a:prstGeom prst="rect">
            <a:avLst/>
          </a:prstGeom>
        </p:spPr>
      </p:pic>
      <p:sp>
        <p:nvSpPr>
          <p:cNvPr id="68" name="Text 53"/>
          <p:cNvSpPr txBox="1"/>
          <p:nvPr/>
        </p:nvSpPr>
        <p:spPr>
          <a:xfrm>
            <a:off x="666598" y="4599467"/>
            <a:ext cx="3343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"비슷하지만 틀린" 내용이 상위 노출</a:t>
            </a:r>
            <a:endParaRPr lang="en-US" sz="1200" dirty="0"/>
          </a:p>
        </p:txBody>
      </p:sp>
      <p:pic>
        <p:nvPicPr>
          <p:cNvPr id="69" name="Image 13" descr="preencoded.png"/>
          <p:cNvPicPr>
            <a:picLocks noChangeAspect="1"/>
          </p:cNvPicPr>
          <p:nvPr/>
        </p:nvPicPr>
        <p:blipFill>
          <a:blip r:embed="rId9">
            <a:alphaModFix amt="70000"/>
          </a:blip>
          <a:srcRect l="-133" r="-133"/>
          <a:stretch/>
        </p:blipFill>
        <p:spPr>
          <a:xfrm>
            <a:off x="504749" y="4637872"/>
            <a:ext cx="85954" cy="114300"/>
          </a:xfrm>
          <a:prstGeom prst="rect">
            <a:avLst/>
          </a:prstGeom>
        </p:spPr>
      </p:pic>
      <p:sp>
        <p:nvSpPr>
          <p:cNvPr id="70" name="Text 54"/>
          <p:cNvSpPr txBox="1"/>
          <p:nvPr/>
        </p:nvSpPr>
        <p:spPr>
          <a:xfrm>
            <a:off x="4604004" y="4333376"/>
            <a:ext cx="3343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단어가 조금만 달라도 못 찾음 (동의어X)</a:t>
            </a:r>
            <a:endParaRPr lang="en-US" sz="1200" dirty="0"/>
          </a:p>
        </p:txBody>
      </p:sp>
      <p:pic>
        <p:nvPicPr>
          <p:cNvPr id="71" name="Image 14" descr="preencoded.png"/>
          <p:cNvPicPr>
            <a:picLocks noChangeAspect="1"/>
          </p:cNvPicPr>
          <p:nvPr/>
        </p:nvPicPr>
        <p:blipFill>
          <a:blip r:embed="rId9">
            <a:alphaModFix amt="70000"/>
          </a:blip>
          <a:srcRect l="-133" r="-133"/>
          <a:stretch/>
        </p:blipFill>
        <p:spPr>
          <a:xfrm>
            <a:off x="4442155" y="4370867"/>
            <a:ext cx="85954" cy="114300"/>
          </a:xfrm>
          <a:prstGeom prst="rect">
            <a:avLst/>
          </a:prstGeom>
        </p:spPr>
      </p:pic>
      <p:sp>
        <p:nvSpPr>
          <p:cNvPr id="72" name="Text 55"/>
          <p:cNvSpPr txBox="1"/>
          <p:nvPr/>
        </p:nvSpPr>
        <p:spPr>
          <a:xfrm>
            <a:off x="4604004" y="4599467"/>
            <a:ext cx="3343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문맥 파악 불가능</a:t>
            </a:r>
            <a:endParaRPr lang="en-US" sz="1200" dirty="0"/>
          </a:p>
        </p:txBody>
      </p:sp>
      <p:pic>
        <p:nvPicPr>
          <p:cNvPr id="73" name="Image 15" descr="preencoded.png"/>
          <p:cNvPicPr>
            <a:picLocks noChangeAspect="1"/>
          </p:cNvPicPr>
          <p:nvPr/>
        </p:nvPicPr>
        <p:blipFill>
          <a:blip r:embed="rId9">
            <a:alphaModFix amt="70000"/>
          </a:blip>
          <a:srcRect l="-133" r="-133"/>
          <a:stretch/>
        </p:blipFill>
        <p:spPr>
          <a:xfrm>
            <a:off x="4442155" y="4637872"/>
            <a:ext cx="85954" cy="114300"/>
          </a:xfrm>
          <a:prstGeom prst="rect">
            <a:avLst/>
          </a:prstGeom>
        </p:spPr>
      </p:pic>
      <p:sp>
        <p:nvSpPr>
          <p:cNvPr id="74" name="Text 56"/>
          <p:cNvSpPr txBox="1"/>
          <p:nvPr/>
        </p:nvSpPr>
        <p:spPr>
          <a:xfrm>
            <a:off x="8540496" y="4333376"/>
            <a:ext cx="3343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복잡도 및 리소스 소폭 증가</a:t>
            </a:r>
            <a:endParaRPr lang="en-US" sz="1200" dirty="0"/>
          </a:p>
        </p:txBody>
      </p:sp>
      <p:pic>
        <p:nvPicPr>
          <p:cNvPr id="75" name="Image 16" descr="preencoded.png"/>
          <p:cNvPicPr>
            <a:picLocks noChangeAspect="1"/>
          </p:cNvPicPr>
          <p:nvPr/>
        </p:nvPicPr>
        <p:blipFill>
          <a:blip r:embed="rId9">
            <a:alphaModFix amt="70000"/>
          </a:blip>
          <a:srcRect l="-133" r="-133"/>
          <a:stretch/>
        </p:blipFill>
        <p:spPr>
          <a:xfrm>
            <a:off x="8378647" y="4370867"/>
            <a:ext cx="85954" cy="114300"/>
          </a:xfrm>
          <a:prstGeom prst="rect">
            <a:avLst/>
          </a:prstGeom>
        </p:spPr>
      </p:pic>
      <p:sp>
        <p:nvSpPr>
          <p:cNvPr id="76" name="Text 57"/>
          <p:cNvSpPr txBox="1"/>
          <p:nvPr/>
        </p:nvSpPr>
        <p:spPr>
          <a:xfrm>
            <a:off x="8540496" y="4599467"/>
            <a:ext cx="32671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Top-k 설정 튜닝 필요</a:t>
            </a:r>
            <a:endParaRPr lang="en-US" sz="1200" dirty="0"/>
          </a:p>
        </p:txBody>
      </p:sp>
      <p:pic>
        <p:nvPicPr>
          <p:cNvPr id="77" name="Image 17" descr="preencoded.png"/>
          <p:cNvPicPr>
            <a:picLocks noChangeAspect="1"/>
          </p:cNvPicPr>
          <p:nvPr/>
        </p:nvPicPr>
        <p:blipFill>
          <a:blip r:embed="rId9">
            <a:alphaModFix amt="70000"/>
          </a:blip>
          <a:srcRect l="-133" r="-133"/>
          <a:stretch/>
        </p:blipFill>
        <p:spPr>
          <a:xfrm>
            <a:off x="8378647" y="4637872"/>
            <a:ext cx="85954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843469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4785"/>
            <a:ext cx="1514246" cy="190195"/>
          </a:xfrm>
          <a:prstGeom prst="roundRect">
            <a:avLst>
              <a:gd name="adj" fmla="val 288462"/>
            </a:avLst>
          </a:prstGeom>
          <a:solidFill>
            <a:srgbClr val="4C1D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4785"/>
            <a:ext cx="1591056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Advanced Retrieval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040026" y="23987"/>
            <a:ext cx="124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161642" y="23987"/>
            <a:ext cx="1267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Query Expansion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70875"/>
            <a:ext cx="46552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Multi-Query Retrieval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7509053" y="509534"/>
            <a:ext cx="4233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 불일치(Vocabulary Mismatch)를 극복하는 다중 쿼리 전략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1305" y="986356"/>
            <a:ext cx="3715207" cy="3343046"/>
          </a:xfrm>
          <a:prstGeom prst="roundRect">
            <a:avLst>
              <a:gd name="adj" fmla="val 1870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866851" y="1224100"/>
            <a:ext cx="318119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문제: 표현 불일치 </a:t>
            </a:r>
            <a:endParaRPr lang="en-US" sz="13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9049" y="1271649"/>
            <a:ext cx="171907" cy="17190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19049" y="1605405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언어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19049" y="1795600"/>
            <a:ext cx="3314700" cy="400507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"이번 분기 </a:t>
            </a:r>
            <a:r>
              <a:rPr lang="en-US" sz="12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상승 요인</a:t>
            </a: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뭐야?" </a:t>
            </a:r>
            <a:endParaRPr lang="en-US" sz="12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976933" y="3092220"/>
            <a:ext cx="142646" cy="1901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19049" y="2690798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문서의 언어 (매칭 실패)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619049" y="3434205"/>
            <a:ext cx="3398824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사용자는 일상 용어를 쓰지만, 문서는 전문 용어나 다른 표현을 씁니다. 단일 쿼리는 이 간극을 넘지 못해 </a:t>
            </a: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Recall(재현율)</a:t>
            </a: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떨어집니다. 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81305" y="4550688"/>
            <a:ext cx="3715207" cy="2152498"/>
          </a:xfrm>
          <a:prstGeom prst="roundRect">
            <a:avLst>
              <a:gd name="adj" fmla="val 4511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866851" y="4789346"/>
            <a:ext cx="318119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해결: 다중 쿼리 확장 </a:t>
            </a:r>
            <a:endParaRPr lang="en-US" sz="13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9049" y="4836895"/>
            <a:ext cx="171907" cy="17190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61949" y="5208141"/>
            <a:ext cx="22887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Paraphrasing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961949" y="5398336"/>
            <a:ext cx="265907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LLM에게 질문을 다양한 표현으로 다시 쓰게 함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961949" y="5665341"/>
            <a:ext cx="22393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Perspective Expansion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961949" y="5855536"/>
            <a:ext cx="26965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동의어, 유의어, 구체적 예시 등으로 관점 확장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961949" y="6122541"/>
            <a:ext cx="269473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Union of Results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961949" y="6312736"/>
            <a:ext cx="3167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쿼리의 검색 결과를 합집합(Union)하여 중복 제거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394606" y="4797576"/>
            <a:ext cx="3600907" cy="1971446"/>
          </a:xfrm>
          <a:prstGeom prst="roundRect">
            <a:avLst>
              <a:gd name="adj" fmla="val 5378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4593946" y="4997829"/>
            <a:ext cx="3314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Trade-off 분석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4593946" y="5302324"/>
            <a:ext cx="69220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Pros (장점)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7321601" y="5302324"/>
            <a:ext cx="55595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Recall ↑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4593946" y="5912229"/>
            <a:ext cx="32004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9"/>
          <p:cNvSpPr txBox="1"/>
          <p:nvPr/>
        </p:nvSpPr>
        <p:spPr>
          <a:xfrm>
            <a:off x="4593946" y="5530924"/>
            <a:ext cx="3277210" cy="3063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서로 다른 키워드를 가진 청크들을 낚시바늘 여러 개로 긁어오듯 찾아낼 확률이 높아짐.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4593946" y="6035673"/>
            <a:ext cx="7260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 (단점)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6851599" y="6035673"/>
            <a:ext cx="11228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Noise ↑ / Cost ↑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4593946" y="6264273"/>
            <a:ext cx="32772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쿼리가 3개면 검색 비용도 3배. 엉뚱한 방향으로 확장되면 노이즈 문서가 유입됨.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8216798" y="4797576"/>
            <a:ext cx="3600907" cy="1971446"/>
          </a:xfrm>
          <a:prstGeom prst="roundRect">
            <a:avLst>
              <a:gd name="adj" fmla="val 537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8417052" y="5326099"/>
            <a:ext cx="114300" cy="152705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8607247" y="5307811"/>
            <a:ext cx="10250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적용 꿀팁</a:t>
            </a:r>
            <a:endParaRPr lang="en-US" sz="100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8417052" y="5612306"/>
            <a:ext cx="105156" cy="114300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8598103" y="5573901"/>
            <a:ext cx="30961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Reranker 필수:</a:t>
            </a: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늘어난 후보군(Noise)을 정리하려면 리랭커가 꼭 뒤에 붙어야 함. </a:t>
            </a:r>
            <a:endParaRPr lang="en-US" sz="90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8417052" y="5993611"/>
            <a:ext cx="105156" cy="114300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8598103" y="5955206"/>
            <a:ext cx="30961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제약:</a:t>
            </a: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금융/법률은 용어가 중요하므로, LLM 프롬프트에 </a:t>
            </a:r>
            <a:r>
              <a:rPr lang="en-US" sz="9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"핵심 키워드는 유지하라"</a:t>
            </a: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 지시해야 함. </a:t>
            </a:r>
            <a:endParaRPr lang="en-US" sz="900" dirty="0"/>
          </a:p>
        </p:txBody>
      </p:sp>
      <p:sp>
        <p:nvSpPr>
          <p:cNvPr id="45" name="Text 37"/>
          <p:cNvSpPr txBox="1"/>
          <p:nvPr/>
        </p:nvSpPr>
        <p:spPr>
          <a:xfrm>
            <a:off x="619049" y="2881908"/>
            <a:ext cx="3314700" cy="400507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"...당기 순이익 </a:t>
            </a:r>
            <a:r>
              <a:rPr lang="en-US" sz="1200" dirty="0">
                <a:solidFill>
                  <a:srgbClr val="60A5FA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상방 압력</a:t>
            </a: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작용..." </a:t>
            </a:r>
            <a:endParaRPr lang="en-US" sz="1200" dirty="0"/>
          </a:p>
        </p:txBody>
      </p:sp>
      <p:sp>
        <p:nvSpPr>
          <p:cNvPr id="46" name="Shape 38"/>
          <p:cNvSpPr/>
          <p:nvPr/>
        </p:nvSpPr>
        <p:spPr>
          <a:xfrm>
            <a:off x="4394606" y="986356"/>
            <a:ext cx="7420356" cy="3590849"/>
          </a:xfrm>
          <a:prstGeom prst="roundRect">
            <a:avLst>
              <a:gd name="adj" fmla="val 1621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Text 39"/>
          <p:cNvSpPr txBox="1"/>
          <p:nvPr/>
        </p:nvSpPr>
        <p:spPr>
          <a:xfrm>
            <a:off x="4632350" y="1224100"/>
            <a:ext cx="21396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Query Expansion Process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5252314" y="2139415"/>
            <a:ext cx="609905" cy="609905"/>
          </a:xfrm>
          <a:prstGeom prst="ellipse">
            <a:avLst/>
          </a:prstGeom>
          <a:noFill/>
          <a:ln w="508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8"/>
          <a:srcRect l="-57" r="-57"/>
          <a:stretch/>
        </p:blipFill>
        <p:spPr>
          <a:xfrm>
            <a:off x="5457139" y="2329610"/>
            <a:ext cx="200254" cy="228600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4795114" y="2863620"/>
            <a:ext cx="1524305" cy="552298"/>
          </a:xfrm>
          <a:prstGeom prst="roundRect">
            <a:avLst>
              <a:gd name="adj" fmla="val 4567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2"/>
          <p:cNvSpPr txBox="1"/>
          <p:nvPr/>
        </p:nvSpPr>
        <p:spPr>
          <a:xfrm>
            <a:off x="4918558" y="2948659"/>
            <a:ext cx="12765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Original Query</a:t>
            </a:r>
            <a:endParaRPr lang="en-US" sz="900" dirty="0"/>
          </a:p>
        </p:txBody>
      </p:sp>
      <p:sp>
        <p:nvSpPr>
          <p:cNvPr id="52" name="Text 43"/>
          <p:cNvSpPr txBox="1"/>
          <p:nvPr/>
        </p:nvSpPr>
        <p:spPr>
          <a:xfrm>
            <a:off x="4918558" y="3139768"/>
            <a:ext cx="12765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"상승 요인?"</a:t>
            </a:r>
            <a:endParaRPr lang="en-US" sz="1000" dirty="0"/>
          </a:p>
        </p:txBody>
      </p:sp>
      <p:sp>
        <p:nvSpPr>
          <p:cNvPr id="53" name="Shape 44"/>
          <p:cNvSpPr/>
          <p:nvPr/>
        </p:nvSpPr>
        <p:spPr>
          <a:xfrm>
            <a:off x="7030426" y="2378073"/>
            <a:ext cx="761695" cy="761695"/>
          </a:xfrm>
          <a:prstGeom prst="roundRect">
            <a:avLst>
              <a:gd name="adj" fmla="val 36014"/>
            </a:avLst>
          </a:prstGeom>
          <a:noFill/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297431" y="2511576"/>
            <a:ext cx="228600" cy="228600"/>
          </a:xfrm>
          <a:prstGeom prst="rect">
            <a:avLst/>
          </a:prstGeom>
        </p:spPr>
      </p:pic>
      <p:sp>
        <p:nvSpPr>
          <p:cNvPr id="55" name="Text 45"/>
          <p:cNvSpPr txBox="1"/>
          <p:nvPr/>
        </p:nvSpPr>
        <p:spPr>
          <a:xfrm>
            <a:off x="7258112" y="2778580"/>
            <a:ext cx="391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</a:t>
            </a:r>
            <a:endParaRPr lang="en-US" sz="1200" dirty="0"/>
          </a:p>
        </p:txBody>
      </p:sp>
      <p:sp>
        <p:nvSpPr>
          <p:cNvPr id="56" name="Shape 46"/>
          <p:cNvSpPr/>
          <p:nvPr/>
        </p:nvSpPr>
        <p:spPr>
          <a:xfrm>
            <a:off x="9233611" y="1777312"/>
            <a:ext cx="2266798" cy="590702"/>
          </a:xfrm>
          <a:prstGeom prst="roundRect">
            <a:avLst>
              <a:gd name="adj" fmla="val 3994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47"/>
          <p:cNvSpPr/>
          <p:nvPr/>
        </p:nvSpPr>
        <p:spPr>
          <a:xfrm>
            <a:off x="9117070" y="1777312"/>
            <a:ext cx="38405" cy="590702"/>
          </a:xfrm>
          <a:prstGeom prst="roundRect">
            <a:avLst>
              <a:gd name="adj" fmla="val 614436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48"/>
          <p:cNvSpPr txBox="1"/>
          <p:nvPr/>
        </p:nvSpPr>
        <p:spPr>
          <a:xfrm>
            <a:off x="9386316" y="1901671"/>
            <a:ext cx="20711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표현 1 (금융)</a:t>
            </a:r>
            <a:endParaRPr lang="en-US" sz="900" dirty="0"/>
          </a:p>
        </p:txBody>
      </p:sp>
      <p:sp>
        <p:nvSpPr>
          <p:cNvPr id="60" name="Text 49"/>
          <p:cNvSpPr txBox="1"/>
          <p:nvPr/>
        </p:nvSpPr>
        <p:spPr>
          <a:xfrm>
            <a:off x="9386316" y="2053461"/>
            <a:ext cx="215066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"이번 분기 </a:t>
            </a: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상방 요인</a:t>
            </a:r>
            <a:r>
              <a:rPr lang="en-US" sz="1000" b="1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endParaRPr lang="en-US" sz="1000" dirty="0"/>
          </a:p>
        </p:txBody>
      </p:sp>
      <p:sp>
        <p:nvSpPr>
          <p:cNvPr id="61" name="Shape 50"/>
          <p:cNvSpPr/>
          <p:nvPr/>
        </p:nvSpPr>
        <p:spPr>
          <a:xfrm>
            <a:off x="9233611" y="2482315"/>
            <a:ext cx="2266798" cy="590702"/>
          </a:xfrm>
          <a:prstGeom prst="roundRect">
            <a:avLst>
              <a:gd name="adj" fmla="val 3994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1"/>
          <p:cNvSpPr/>
          <p:nvPr/>
        </p:nvSpPr>
        <p:spPr>
          <a:xfrm>
            <a:off x="9117070" y="2482315"/>
            <a:ext cx="38405" cy="590702"/>
          </a:xfrm>
          <a:prstGeom prst="roundRect">
            <a:avLst>
              <a:gd name="adj" fmla="val 614436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2"/>
          <p:cNvSpPr txBox="1"/>
          <p:nvPr/>
        </p:nvSpPr>
        <p:spPr>
          <a:xfrm>
            <a:off x="9386316" y="2605759"/>
            <a:ext cx="215066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표현 2 (전문 용어)</a:t>
            </a:r>
            <a:endParaRPr lang="en-US" sz="900" dirty="0"/>
          </a:p>
        </p:txBody>
      </p:sp>
      <p:sp>
        <p:nvSpPr>
          <p:cNvPr id="65" name="Text 53"/>
          <p:cNvSpPr txBox="1"/>
          <p:nvPr/>
        </p:nvSpPr>
        <p:spPr>
          <a:xfrm>
            <a:off x="9386316" y="2758464"/>
            <a:ext cx="22128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FA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"이번 분기 </a:t>
            </a:r>
            <a:r>
              <a:rPr lang="en-US" sz="10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업사이드(Upside)</a:t>
            </a:r>
            <a:r>
              <a:rPr lang="en-US" sz="1000" b="1" dirty="0">
                <a:solidFill>
                  <a:srgbClr val="D1FA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endParaRPr lang="en-US" sz="1000" dirty="0"/>
          </a:p>
        </p:txBody>
      </p:sp>
      <p:sp>
        <p:nvSpPr>
          <p:cNvPr id="66" name="Shape 54"/>
          <p:cNvSpPr/>
          <p:nvPr/>
        </p:nvSpPr>
        <p:spPr>
          <a:xfrm>
            <a:off x="9233611" y="3187317"/>
            <a:ext cx="2266798" cy="590702"/>
          </a:xfrm>
          <a:prstGeom prst="roundRect">
            <a:avLst>
              <a:gd name="adj" fmla="val 3994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55"/>
          <p:cNvSpPr/>
          <p:nvPr/>
        </p:nvSpPr>
        <p:spPr>
          <a:xfrm>
            <a:off x="9117070" y="3187317"/>
            <a:ext cx="38405" cy="590702"/>
          </a:xfrm>
          <a:prstGeom prst="roundRect">
            <a:avLst>
              <a:gd name="adj" fmla="val 614436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C9D47149-6CE9-F62E-C7BC-B71262BB3D27}"/>
              </a:ext>
            </a:extLst>
          </p:cNvPr>
          <p:cNvGrpSpPr/>
          <p:nvPr/>
        </p:nvGrpSpPr>
        <p:grpSpPr>
          <a:xfrm>
            <a:off x="8136437" y="2072664"/>
            <a:ext cx="830777" cy="1429206"/>
            <a:chOff x="9041175" y="2072664"/>
            <a:chExt cx="114300" cy="1429206"/>
          </a:xfrm>
        </p:grpSpPr>
        <p:pic>
          <p:nvPicPr>
            <p:cNvPr id="58" name="Image 8" descr="preencoded.png"/>
            <p:cNvPicPr>
              <a:picLocks noChangeAspect="1"/>
            </p:cNvPicPr>
            <p:nvPr/>
          </p:nvPicPr>
          <p:blipFill>
            <a:blip r:embed="rId10"/>
            <a:srcRect t="-400" b="-400"/>
            <a:stretch/>
          </p:blipFill>
          <p:spPr>
            <a:xfrm>
              <a:off x="9041175" y="2072664"/>
              <a:ext cx="114300" cy="19202"/>
            </a:xfrm>
            <a:prstGeom prst="rect">
              <a:avLst/>
            </a:prstGeom>
          </p:spPr>
        </p:pic>
        <p:pic>
          <p:nvPicPr>
            <p:cNvPr id="63" name="Image 9" descr="preencoded.png"/>
            <p:cNvPicPr>
              <a:picLocks noChangeAspect="1"/>
            </p:cNvPicPr>
            <p:nvPr/>
          </p:nvPicPr>
          <p:blipFill>
            <a:blip r:embed="rId11"/>
            <a:srcRect t="-400" b="-400"/>
            <a:stretch/>
          </p:blipFill>
          <p:spPr>
            <a:xfrm>
              <a:off x="9041175" y="2777666"/>
              <a:ext cx="114300" cy="19202"/>
            </a:xfrm>
            <a:prstGeom prst="rect">
              <a:avLst/>
            </a:prstGeom>
          </p:spPr>
        </p:pic>
        <p:pic>
          <p:nvPicPr>
            <p:cNvPr id="68" name="Image 10" descr="preencoded.png"/>
            <p:cNvPicPr>
              <a:picLocks noChangeAspect="1"/>
            </p:cNvPicPr>
            <p:nvPr/>
          </p:nvPicPr>
          <p:blipFill>
            <a:blip r:embed="rId12"/>
            <a:srcRect t="-400" b="-400"/>
            <a:stretch/>
          </p:blipFill>
          <p:spPr>
            <a:xfrm>
              <a:off x="9041175" y="3482668"/>
              <a:ext cx="114300" cy="19202"/>
            </a:xfrm>
            <a:prstGeom prst="rect">
              <a:avLst/>
            </a:prstGeom>
          </p:spPr>
        </p:pic>
      </p:grpSp>
      <p:sp>
        <p:nvSpPr>
          <p:cNvPr id="69" name="Text 56"/>
          <p:cNvSpPr txBox="1"/>
          <p:nvPr/>
        </p:nvSpPr>
        <p:spPr>
          <a:xfrm>
            <a:off x="9386316" y="3310761"/>
            <a:ext cx="215066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의미적 확장</a:t>
            </a:r>
            <a:endParaRPr lang="en-US" sz="900" dirty="0"/>
          </a:p>
        </p:txBody>
      </p:sp>
      <p:sp>
        <p:nvSpPr>
          <p:cNvPr id="70" name="Text 57"/>
          <p:cNvSpPr txBox="1"/>
          <p:nvPr/>
        </p:nvSpPr>
        <p:spPr>
          <a:xfrm>
            <a:off x="9386316" y="3463466"/>
            <a:ext cx="21936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EF3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"이번 분기 </a:t>
            </a:r>
            <a:r>
              <a:rPr lang="en-US" sz="10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긍정적 실적 사유</a:t>
            </a:r>
            <a:r>
              <a:rPr lang="en-US" sz="1000" b="1" dirty="0">
                <a:solidFill>
                  <a:srgbClr val="FEF3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834503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4784"/>
            <a:ext cx="1657807" cy="190195"/>
          </a:xfrm>
          <a:prstGeom prst="roundRect">
            <a:avLst>
              <a:gd name="adj" fmla="val 288462"/>
            </a:avLst>
          </a:prstGeom>
          <a:solidFill>
            <a:srgbClr val="83184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4784"/>
            <a:ext cx="1733702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F9A8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Reranking Mechanism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188159" y="23986"/>
            <a:ext cx="124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309774" y="23986"/>
            <a:ext cx="18150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Precision Optimization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70874"/>
            <a:ext cx="737646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리랭킹: Bi-Encoder vs Cross-Encoder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8345729" y="509533"/>
            <a:ext cx="3391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속도와 정확도 사이의 균형을 잡는 2단계 검색 전략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1305" y="973943"/>
            <a:ext cx="5562295" cy="2219249"/>
          </a:xfrm>
          <a:prstGeom prst="roundRect">
            <a:avLst>
              <a:gd name="adj" fmla="val 4244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809244" y="1057656"/>
            <a:ext cx="1010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Bi-Encoder </a:t>
            </a:r>
            <a:endParaRPr lang="en-US" sz="13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 l="-760" r="-760"/>
          <a:stretch/>
        </p:blipFill>
        <p:spPr>
          <a:xfrm>
            <a:off x="580644" y="1105205"/>
            <a:ext cx="152705" cy="17190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552798" y="1075944"/>
            <a:ext cx="1248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Retrieval (1차 검색)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80644" y="1476451"/>
            <a:ext cx="1676095" cy="1399946"/>
          </a:xfrm>
          <a:prstGeom prst="roundRect">
            <a:avLst>
              <a:gd name="adj" fmla="val 355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1046074" y="1620926"/>
            <a:ext cx="3621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427378" y="1620926"/>
            <a:ext cx="3621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36930" y="2078126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BERT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2078126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BERT</a:t>
            </a:r>
            <a:endParaRPr lang="en-US" sz="12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2406701" y="1830324"/>
            <a:ext cx="105156" cy="1143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2587752" y="1792834"/>
            <a:ext cx="3238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인코딩:</a:t>
            </a: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질문과 문서를 따로 벡터화하여 미리 저장 가능 (Indexing).</a:t>
            </a:r>
            <a:endParaRPr lang="en-US" sz="9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2406701" y="2211629"/>
            <a:ext cx="105156" cy="1143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2587752" y="2173224"/>
            <a:ext cx="32360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매우 빠름:</a:t>
            </a: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수백만 문서 중에서 Top-K를 순식간에 검색.</a:t>
            </a:r>
            <a:endParaRPr lang="en-US" sz="9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2406701" y="2440229"/>
            <a:ext cx="105156" cy="1143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2587752" y="2401824"/>
            <a:ext cx="293339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정밀도 낮음:</a:t>
            </a: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문맥적 뉘앙스를 깊게 파악하지 못함.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248095" y="973943"/>
            <a:ext cx="5562295" cy="2219249"/>
          </a:xfrm>
          <a:prstGeom prst="roundRect">
            <a:avLst>
              <a:gd name="adj" fmla="val 4244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2"/>
          <p:cNvSpPr txBox="1"/>
          <p:nvPr/>
        </p:nvSpPr>
        <p:spPr>
          <a:xfrm>
            <a:off x="6696151" y="1057656"/>
            <a:ext cx="12957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Cross-Encoder </a:t>
            </a:r>
            <a:endParaRPr lang="en-US" sz="13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48349" y="1105205"/>
            <a:ext cx="171907" cy="171907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0351008" y="1075944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9A8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Reranking (2차 정렬)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6448349" y="1476451"/>
            <a:ext cx="1676095" cy="1399946"/>
          </a:xfrm>
          <a:prstGeom prst="roundRect">
            <a:avLst>
              <a:gd name="adj" fmla="val 355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5"/>
          <p:cNvSpPr txBox="1"/>
          <p:nvPr/>
        </p:nvSpPr>
        <p:spPr>
          <a:xfrm>
            <a:off x="6922008" y="1583436"/>
            <a:ext cx="72603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[Query + Doc]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6952183" y="1963826"/>
            <a:ext cx="6675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BERT (Full Attention)</a:t>
            </a:r>
            <a:endParaRPr lang="en-US" sz="12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8274406" y="1907134"/>
            <a:ext cx="105156" cy="1143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455457" y="1868729"/>
            <a:ext cx="335584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동시 인코딩:</a:t>
            </a: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질문과 문서를 섞어서(Interaction) 깊게 분석.</a:t>
            </a:r>
            <a:endParaRPr lang="en-US" sz="9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8274406" y="2135734"/>
            <a:ext cx="105156" cy="11430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8455457" y="2097329"/>
            <a:ext cx="27678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매우 정확함:</a:t>
            </a: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실제 답변이 될 확률을 직접 채점.</a:t>
            </a:r>
            <a:endParaRPr lang="en-US" sz="9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8274406" y="2364334"/>
            <a:ext cx="105156" cy="1143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8455457" y="2325929"/>
            <a:ext cx="32223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느림:</a:t>
            </a: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문서마다 모델을 돌려야 하므로 전체 검색엔 불가.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8104336" y="3297487"/>
            <a:ext cx="3743554" cy="3436315"/>
          </a:xfrm>
          <a:prstGeom prst="roundRect">
            <a:avLst>
              <a:gd name="adj" fmla="val 155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1"/>
          <p:cNvSpPr/>
          <p:nvPr/>
        </p:nvSpPr>
        <p:spPr>
          <a:xfrm>
            <a:off x="8311896" y="3729693"/>
            <a:ext cx="32671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2"/>
          <p:cNvSpPr txBox="1"/>
          <p:nvPr/>
        </p:nvSpPr>
        <p:spPr>
          <a:xfrm>
            <a:off x="8311896" y="3462689"/>
            <a:ext cx="3343961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Top-N Trade-off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8311896" y="5679696"/>
            <a:ext cx="3267151" cy="895198"/>
          </a:xfrm>
          <a:prstGeom prst="roundRect">
            <a:avLst>
              <a:gd name="adj" fmla="val 869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435340" y="5823257"/>
            <a:ext cx="114300" cy="114300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8626450" y="5804055"/>
            <a:ext cx="881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Optimal Zone</a:t>
            </a:r>
            <a:endParaRPr lang="en-US" sz="900" dirty="0"/>
          </a:p>
        </p:txBody>
      </p:sp>
      <p:sp>
        <p:nvSpPr>
          <p:cNvPr id="46" name="Text 35"/>
          <p:cNvSpPr txBox="1"/>
          <p:nvPr/>
        </p:nvSpPr>
        <p:spPr>
          <a:xfrm>
            <a:off x="8435340" y="5994250"/>
            <a:ext cx="30961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보통 </a:t>
            </a: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Top-5 ~ Top-10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사이가 품질과 비용의 최적점(Sweet Spot). </a:t>
            </a:r>
            <a:endParaRPr lang="en-US" sz="1200" dirty="0"/>
          </a:p>
        </p:txBody>
      </p:sp>
      <p:sp>
        <p:nvSpPr>
          <p:cNvPr id="47" name="Text 36"/>
          <p:cNvSpPr txBox="1"/>
          <p:nvPr/>
        </p:nvSpPr>
        <p:spPr>
          <a:xfrm>
            <a:off x="946404" y="2497836"/>
            <a:ext cx="9464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Cosine Sim</a:t>
            </a:r>
            <a:endParaRPr lang="en-US" sz="1200" dirty="0"/>
          </a:p>
        </p:txBody>
      </p:sp>
      <p:sp>
        <p:nvSpPr>
          <p:cNvPr id="48" name="Text 37"/>
          <p:cNvSpPr txBox="1"/>
          <p:nvPr/>
        </p:nvSpPr>
        <p:spPr>
          <a:xfrm>
            <a:off x="6781190" y="2535326"/>
            <a:ext cx="10094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A8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Score (0~1)</a:t>
            </a:r>
            <a:endParaRPr lang="en-US" sz="1200" dirty="0"/>
          </a:p>
        </p:txBody>
      </p:sp>
      <p:sp>
        <p:nvSpPr>
          <p:cNvPr id="49" name="Shape 38"/>
          <p:cNvSpPr/>
          <p:nvPr/>
        </p:nvSpPr>
        <p:spPr>
          <a:xfrm>
            <a:off x="381305" y="3299765"/>
            <a:ext cx="7467905" cy="3436315"/>
          </a:xfrm>
          <a:prstGeom prst="roundRect">
            <a:avLst>
              <a:gd name="adj" fmla="val 1555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0" name="Text 39"/>
          <p:cNvSpPr txBox="1"/>
          <p:nvPr/>
        </p:nvSpPr>
        <p:spPr>
          <a:xfrm>
            <a:off x="882396" y="3394074"/>
            <a:ext cx="69192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실무 RAG 파이프라인 </a:t>
            </a:r>
            <a:endParaRPr lang="en-US" sz="1000" dirty="0"/>
          </a:p>
        </p:txBody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11"/>
          <a:srcRect l="-3425" r="-3425"/>
          <a:stretch/>
        </p:blipFill>
        <p:spPr>
          <a:xfrm>
            <a:off x="619049" y="3411805"/>
            <a:ext cx="142646" cy="133502"/>
          </a:xfrm>
          <a:prstGeom prst="rect">
            <a:avLst/>
          </a:prstGeom>
        </p:spPr>
      </p:pic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12"/>
          <a:srcRect t="-421" b="-421"/>
          <a:stretch/>
        </p:blipFill>
        <p:spPr>
          <a:xfrm>
            <a:off x="2595067" y="4903192"/>
            <a:ext cx="530352" cy="19202"/>
          </a:xfrm>
          <a:prstGeom prst="rect">
            <a:avLst/>
          </a:prstGeom>
        </p:spPr>
      </p:pic>
      <p:pic>
        <p:nvPicPr>
          <p:cNvPr id="53" name="Image 11" descr="preencoded.png"/>
          <p:cNvPicPr>
            <a:picLocks noChangeAspect="1"/>
          </p:cNvPicPr>
          <p:nvPr/>
        </p:nvPicPr>
        <p:blipFill>
          <a:blip r:embed="rId12"/>
          <a:srcRect t="-435" b="-435"/>
          <a:stretch/>
        </p:blipFill>
        <p:spPr>
          <a:xfrm>
            <a:off x="5100523" y="4903192"/>
            <a:ext cx="530352" cy="19202"/>
          </a:xfrm>
          <a:prstGeom prst="rect">
            <a:avLst/>
          </a:prstGeom>
        </p:spPr>
      </p:pic>
      <p:sp>
        <p:nvSpPr>
          <p:cNvPr id="54" name="Text 40"/>
          <p:cNvSpPr txBox="1"/>
          <p:nvPr/>
        </p:nvSpPr>
        <p:spPr>
          <a:xfrm>
            <a:off x="676656" y="6296737"/>
            <a:ext cx="68772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"Bi-Encoder로 넓게(Recall) 잡고, Cross-Encoder로 좁게(Precision) 거른다."</a:t>
            </a:r>
            <a:endParaRPr lang="en-US" sz="900" dirty="0"/>
          </a:p>
        </p:txBody>
      </p:sp>
      <p:sp>
        <p:nvSpPr>
          <p:cNvPr id="55" name="Shape 41"/>
          <p:cNvSpPr/>
          <p:nvPr/>
        </p:nvSpPr>
        <p:spPr>
          <a:xfrm>
            <a:off x="8311896" y="3891542"/>
            <a:ext cx="19202" cy="609905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2"/>
          <p:cNvSpPr txBox="1"/>
          <p:nvPr/>
        </p:nvSpPr>
        <p:spPr>
          <a:xfrm>
            <a:off x="8483803" y="3891542"/>
            <a:ext cx="16925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N이 너무 작으면 (3개 미만)</a:t>
            </a:r>
            <a:endParaRPr lang="en-US" sz="900" dirty="0"/>
          </a:p>
        </p:txBody>
      </p:sp>
      <p:sp>
        <p:nvSpPr>
          <p:cNvPr id="57" name="Text 43"/>
          <p:cNvSpPr txBox="1"/>
          <p:nvPr/>
        </p:nvSpPr>
        <p:spPr>
          <a:xfrm>
            <a:off x="8668512" y="4081737"/>
            <a:ext cx="302575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Recall Risk </a:t>
            </a:r>
            <a:endParaRPr lang="en-US" sz="900" dirty="0"/>
          </a:p>
        </p:txBody>
      </p:sp>
      <p:pic>
        <p:nvPicPr>
          <p:cNvPr id="58" name="Image 12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483803" y="4105512"/>
            <a:ext cx="114300" cy="114300"/>
          </a:xfrm>
          <a:prstGeom prst="rect">
            <a:avLst/>
          </a:prstGeom>
        </p:spPr>
      </p:pic>
      <p:sp>
        <p:nvSpPr>
          <p:cNvPr id="59" name="Text 44"/>
          <p:cNvSpPr txBox="1"/>
          <p:nvPr/>
        </p:nvSpPr>
        <p:spPr>
          <a:xfrm>
            <a:off x="8483803" y="4272847"/>
            <a:ext cx="3286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 청크가 잘려나가 답변 실패.</a:t>
            </a:r>
            <a:endParaRPr lang="en-US" sz="1200" dirty="0"/>
          </a:p>
        </p:txBody>
      </p:sp>
      <p:sp>
        <p:nvSpPr>
          <p:cNvPr id="60" name="Shape 45"/>
          <p:cNvSpPr/>
          <p:nvPr/>
        </p:nvSpPr>
        <p:spPr>
          <a:xfrm>
            <a:off x="8311896" y="4730047"/>
            <a:ext cx="19202" cy="83850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46"/>
          <p:cNvSpPr txBox="1"/>
          <p:nvPr/>
        </p:nvSpPr>
        <p:spPr>
          <a:xfrm>
            <a:off x="8483803" y="4730047"/>
            <a:ext cx="15197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N이 너무 크면 (20개 이상)</a:t>
            </a:r>
            <a:endParaRPr lang="en-US" sz="900" dirty="0"/>
          </a:p>
        </p:txBody>
      </p:sp>
      <p:sp>
        <p:nvSpPr>
          <p:cNvPr id="62" name="Text 47"/>
          <p:cNvSpPr txBox="1"/>
          <p:nvPr/>
        </p:nvSpPr>
        <p:spPr>
          <a:xfrm>
            <a:off x="8668512" y="4920242"/>
            <a:ext cx="302575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Cost &amp; Noise Risk </a:t>
            </a:r>
            <a:endParaRPr lang="en-US" sz="900" dirty="0"/>
          </a:p>
        </p:txBody>
      </p:sp>
      <p:pic>
        <p:nvPicPr>
          <p:cNvPr id="63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483803" y="4944017"/>
            <a:ext cx="114300" cy="114300"/>
          </a:xfrm>
          <a:prstGeom prst="rect">
            <a:avLst/>
          </a:prstGeom>
        </p:spPr>
      </p:pic>
      <p:sp>
        <p:nvSpPr>
          <p:cNvPr id="64" name="Text 48"/>
          <p:cNvSpPr txBox="1"/>
          <p:nvPr/>
        </p:nvSpPr>
        <p:spPr>
          <a:xfrm>
            <a:off x="8483803" y="5110437"/>
            <a:ext cx="31720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입력 비용 증가 및 정보 혼탁(Lost in Middle).</a:t>
            </a:r>
            <a:endParaRPr lang="en-US" sz="1200" dirty="0"/>
          </a:p>
        </p:txBody>
      </p:sp>
      <p:sp>
        <p:nvSpPr>
          <p:cNvPr id="65" name="Shape 49"/>
          <p:cNvSpPr/>
          <p:nvPr/>
        </p:nvSpPr>
        <p:spPr>
          <a:xfrm>
            <a:off x="771754" y="4131438"/>
            <a:ext cx="1676095" cy="1028700"/>
          </a:xfrm>
          <a:prstGeom prst="roundRect">
            <a:avLst>
              <a:gd name="adj" fmla="val 1316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50"/>
          <p:cNvSpPr txBox="1"/>
          <p:nvPr/>
        </p:nvSpPr>
        <p:spPr>
          <a:xfrm>
            <a:off x="857707" y="4579494"/>
            <a:ext cx="15051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Retrieval</a:t>
            </a:r>
            <a:endParaRPr lang="en-US" sz="1000" dirty="0"/>
          </a:p>
        </p:txBody>
      </p:sp>
      <p:sp>
        <p:nvSpPr>
          <p:cNvPr id="67" name="Text 51"/>
          <p:cNvSpPr txBox="1"/>
          <p:nvPr/>
        </p:nvSpPr>
        <p:spPr>
          <a:xfrm>
            <a:off x="759866" y="4808094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Bi-Encoder / FAISS</a:t>
            </a:r>
            <a:endParaRPr lang="en-US" sz="1200" dirty="0"/>
          </a:p>
        </p:txBody>
      </p:sp>
      <p:sp>
        <p:nvSpPr>
          <p:cNvPr id="68" name="Text 52"/>
          <p:cNvSpPr txBox="1"/>
          <p:nvPr/>
        </p:nvSpPr>
        <p:spPr>
          <a:xfrm>
            <a:off x="1282903" y="5312843"/>
            <a:ext cx="6537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Top-K 후보</a:t>
            </a:r>
            <a:endParaRPr lang="en-US" sz="900" dirty="0"/>
          </a:p>
        </p:txBody>
      </p:sp>
      <p:sp>
        <p:nvSpPr>
          <p:cNvPr id="69" name="Text 53"/>
          <p:cNvSpPr txBox="1"/>
          <p:nvPr/>
        </p:nvSpPr>
        <p:spPr>
          <a:xfrm>
            <a:off x="1291133" y="5464633"/>
            <a:ext cx="6382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100개</a:t>
            </a:r>
            <a:endParaRPr lang="en-US" sz="1000" dirty="0"/>
          </a:p>
        </p:txBody>
      </p:sp>
      <p:pic>
        <p:nvPicPr>
          <p:cNvPr id="70" name="Image 14" descr="preencoded.png"/>
          <p:cNvPicPr>
            <a:picLocks noChangeAspect="1"/>
          </p:cNvPicPr>
          <p:nvPr/>
        </p:nvPicPr>
        <p:blipFill>
          <a:blip r:embed="rId15"/>
          <a:srcRect l="-57" r="-57"/>
          <a:stretch/>
        </p:blipFill>
        <p:spPr>
          <a:xfrm>
            <a:off x="1506931" y="4255797"/>
            <a:ext cx="200254" cy="228600"/>
          </a:xfrm>
          <a:prstGeom prst="rect">
            <a:avLst/>
          </a:prstGeom>
        </p:spPr>
      </p:pic>
      <p:sp>
        <p:nvSpPr>
          <p:cNvPr id="71" name="Shape 54"/>
          <p:cNvSpPr/>
          <p:nvPr/>
        </p:nvSpPr>
        <p:spPr>
          <a:xfrm>
            <a:off x="3277210" y="4122294"/>
            <a:ext cx="1676095" cy="1028700"/>
          </a:xfrm>
          <a:prstGeom prst="roundRect">
            <a:avLst>
              <a:gd name="adj" fmla="val 1316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55"/>
          <p:cNvSpPr txBox="1"/>
          <p:nvPr/>
        </p:nvSpPr>
        <p:spPr>
          <a:xfrm>
            <a:off x="3363163" y="4569436"/>
            <a:ext cx="15051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Rerank</a:t>
            </a:r>
            <a:endParaRPr lang="en-US" sz="1000" dirty="0"/>
          </a:p>
        </p:txBody>
      </p:sp>
      <p:sp>
        <p:nvSpPr>
          <p:cNvPr id="73" name="Text 56"/>
          <p:cNvSpPr txBox="1"/>
          <p:nvPr/>
        </p:nvSpPr>
        <p:spPr>
          <a:xfrm>
            <a:off x="3363163" y="4798036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72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Cross-Encoder</a:t>
            </a:r>
            <a:endParaRPr lang="en-US" sz="1200" dirty="0"/>
          </a:p>
        </p:txBody>
      </p:sp>
      <p:sp>
        <p:nvSpPr>
          <p:cNvPr id="74" name="Shape 57"/>
          <p:cNvSpPr/>
          <p:nvPr/>
        </p:nvSpPr>
        <p:spPr>
          <a:xfrm>
            <a:off x="3706978" y="5265294"/>
            <a:ext cx="819302" cy="437998"/>
          </a:xfrm>
          <a:prstGeom prst="roundRect">
            <a:avLst>
              <a:gd name="adj" fmla="val 36307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58"/>
          <p:cNvSpPr txBox="1"/>
          <p:nvPr/>
        </p:nvSpPr>
        <p:spPr>
          <a:xfrm>
            <a:off x="3789274" y="5312843"/>
            <a:ext cx="6537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BCF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Top-N 정예</a:t>
            </a:r>
            <a:endParaRPr lang="en-US" sz="900" dirty="0"/>
          </a:p>
        </p:txBody>
      </p:sp>
      <p:sp>
        <p:nvSpPr>
          <p:cNvPr id="76" name="Text 59"/>
          <p:cNvSpPr txBox="1"/>
          <p:nvPr/>
        </p:nvSpPr>
        <p:spPr>
          <a:xfrm>
            <a:off x="3792931" y="5464633"/>
            <a:ext cx="648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5~10개</a:t>
            </a:r>
            <a:endParaRPr lang="en-US" sz="1000" dirty="0"/>
          </a:p>
        </p:txBody>
      </p:sp>
      <p:pic>
        <p:nvPicPr>
          <p:cNvPr id="77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3998671" y="4245738"/>
            <a:ext cx="228600" cy="228600"/>
          </a:xfrm>
          <a:prstGeom prst="rect">
            <a:avLst/>
          </a:prstGeom>
        </p:spPr>
      </p:pic>
      <p:sp>
        <p:nvSpPr>
          <p:cNvPr id="78" name="Shape 60"/>
          <p:cNvSpPr/>
          <p:nvPr/>
        </p:nvSpPr>
        <p:spPr>
          <a:xfrm>
            <a:off x="5783580" y="4217392"/>
            <a:ext cx="1676095" cy="1028700"/>
          </a:xfrm>
          <a:prstGeom prst="roundRect">
            <a:avLst>
              <a:gd name="adj" fmla="val 1316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61"/>
          <p:cNvSpPr txBox="1"/>
          <p:nvPr/>
        </p:nvSpPr>
        <p:spPr>
          <a:xfrm>
            <a:off x="5869534" y="4664533"/>
            <a:ext cx="15051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Generation</a:t>
            </a:r>
            <a:endParaRPr lang="en-US" sz="1000" dirty="0"/>
          </a:p>
        </p:txBody>
      </p:sp>
      <p:sp>
        <p:nvSpPr>
          <p:cNvPr id="80" name="Text 62"/>
          <p:cNvSpPr txBox="1"/>
          <p:nvPr/>
        </p:nvSpPr>
        <p:spPr>
          <a:xfrm>
            <a:off x="5869534" y="4893133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(GPT-4)</a:t>
            </a:r>
            <a:endParaRPr lang="en-US" sz="1200" dirty="0"/>
          </a:p>
        </p:txBody>
      </p:sp>
      <p:sp>
        <p:nvSpPr>
          <p:cNvPr id="81" name="Shape 63"/>
          <p:cNvSpPr/>
          <p:nvPr/>
        </p:nvSpPr>
        <p:spPr>
          <a:xfrm>
            <a:off x="6152998" y="5360392"/>
            <a:ext cx="933602" cy="247802"/>
          </a:xfrm>
          <a:prstGeom prst="roundRect">
            <a:avLst>
              <a:gd name="adj" fmla="val 11354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64"/>
          <p:cNvSpPr txBox="1"/>
          <p:nvPr/>
        </p:nvSpPr>
        <p:spPr>
          <a:xfrm>
            <a:off x="6211519" y="5407941"/>
            <a:ext cx="81655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F3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 Answer</a:t>
            </a:r>
            <a:endParaRPr lang="en-US" sz="900" dirty="0"/>
          </a:p>
        </p:txBody>
      </p:sp>
      <p:pic>
        <p:nvPicPr>
          <p:cNvPr id="83" name="Image 16" descr="preencoded.png"/>
          <p:cNvPicPr>
            <a:picLocks noChangeAspect="1"/>
          </p:cNvPicPr>
          <p:nvPr/>
        </p:nvPicPr>
        <p:blipFill>
          <a:blip r:embed="rId17"/>
          <a:srcRect l="-80" r="-80"/>
          <a:stretch/>
        </p:blipFill>
        <p:spPr>
          <a:xfrm>
            <a:off x="6476695" y="4340836"/>
            <a:ext cx="286207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84347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4786"/>
            <a:ext cx="838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292962" y="23988"/>
            <a:ext cx="124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414577" y="23988"/>
            <a:ext cx="189829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Checklist &amp; Action Plan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70876"/>
            <a:ext cx="742767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마무리: 실무 체크리스트와 다음 단계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9269273" y="509535"/>
            <a:ext cx="2467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성공적인 RAG 구축을 위한 최종 점검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1305" y="1090487"/>
            <a:ext cx="6676949" cy="5296205"/>
          </a:xfrm>
          <a:prstGeom prst="roundRect">
            <a:avLst>
              <a:gd name="adj" fmla="val 745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875995" y="1328231"/>
            <a:ext cx="6134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RAG 구축 핵심 체크리스트 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9049" y="1366636"/>
            <a:ext cx="142646" cy="190195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19049" y="1823836"/>
            <a:ext cx="6200546" cy="923544"/>
          </a:xfrm>
          <a:prstGeom prst="roundRect">
            <a:avLst>
              <a:gd name="adj" fmla="val 1633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780898" y="1985685"/>
            <a:ext cx="381305" cy="381305"/>
          </a:xfrm>
          <a:prstGeom prst="roundRect">
            <a:avLst>
              <a:gd name="adj" fmla="val 4796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6054" y="2090841"/>
            <a:ext cx="171907" cy="17190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314907" y="1985685"/>
            <a:ext cx="4381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Extraction (추출)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314907" y="2214285"/>
            <a:ext cx="43434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문서 성격에 따라 </a:t>
            </a: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PyMuPDF</a:t>
            </a: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(텍스트 위주) vs </a:t>
            </a: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VLM</a:t>
            </a: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(표/그래프 핵심)을 명확히 선택했는가?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표가 중요하다면 전용 파서나 VLM 필수 고려</a:t>
            </a:r>
            <a:endParaRPr lang="en-US" sz="9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6484925" y="1985685"/>
            <a:ext cx="171907" cy="190195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19049" y="2900085"/>
            <a:ext cx="6200546" cy="923544"/>
          </a:xfrm>
          <a:prstGeom prst="roundRect">
            <a:avLst>
              <a:gd name="adj" fmla="val 1633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780898" y="3061934"/>
            <a:ext cx="381305" cy="381305"/>
          </a:xfrm>
          <a:prstGeom prst="roundRect">
            <a:avLst>
              <a:gd name="adj" fmla="val 4796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6054" y="3167090"/>
            <a:ext cx="171907" cy="17190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14907" y="3061934"/>
            <a:ext cx="43726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7F3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Chunking (청킹)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314907" y="3290534"/>
            <a:ext cx="43342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의미 단위가 보존되도록 </a:t>
            </a: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Recursive Splitter</a:t>
            </a: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사용하고, 적절한 Overlap을 설정했는가?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표/리스트가 청크 경계에서 깨지지 않도록 별도 처리했는지 확인</a:t>
            </a:r>
            <a:endParaRPr lang="en-US" sz="9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6484925" y="3061934"/>
            <a:ext cx="171907" cy="190195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619049" y="3976334"/>
            <a:ext cx="6200546" cy="923544"/>
          </a:xfrm>
          <a:prstGeom prst="roundRect">
            <a:avLst>
              <a:gd name="adj" fmla="val 1633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0"/>
          <p:cNvSpPr/>
          <p:nvPr/>
        </p:nvSpPr>
        <p:spPr>
          <a:xfrm>
            <a:off x="780898" y="4138183"/>
            <a:ext cx="381305" cy="381305"/>
          </a:xfrm>
          <a:prstGeom prst="roundRect">
            <a:avLst>
              <a:gd name="adj" fmla="val 4796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86054" y="4243339"/>
            <a:ext cx="171907" cy="171907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314907" y="4138183"/>
            <a:ext cx="3867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DD6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Retrieval (검색)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1314907" y="4366783"/>
            <a:ext cx="38295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FAISS</a:t>
            </a: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(의미)와 </a:t>
            </a: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BM25</a:t>
            </a: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(키워드)를 결합한 </a:t>
            </a: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Ensemble(RRF)</a:t>
            </a: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전략을 적용했는가?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Recall(재현율) 확보가 우선, 정답이 후보군에 없으면 답변 불가</a:t>
            </a:r>
            <a:endParaRPr lang="en-US" sz="9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6484925" y="4138183"/>
            <a:ext cx="171907" cy="190195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19049" y="5052583"/>
            <a:ext cx="6200546" cy="923544"/>
          </a:xfrm>
          <a:prstGeom prst="roundRect">
            <a:avLst>
              <a:gd name="adj" fmla="val 1633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4"/>
          <p:cNvSpPr/>
          <p:nvPr/>
        </p:nvSpPr>
        <p:spPr>
          <a:xfrm>
            <a:off x="780898" y="5214431"/>
            <a:ext cx="381305" cy="381305"/>
          </a:xfrm>
          <a:prstGeom prst="roundRect">
            <a:avLst>
              <a:gd name="adj" fmla="val 4796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8"/>
          <a:srcRect t="-842" b="-842"/>
          <a:stretch/>
        </p:blipFill>
        <p:spPr>
          <a:xfrm>
            <a:off x="875995" y="5319587"/>
            <a:ext cx="190195" cy="171907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1314907" y="5214431"/>
            <a:ext cx="3505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CF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Reranking (재정렬)</a:t>
            </a:r>
            <a:endParaRPr lang="en-US" sz="1000" dirty="0"/>
          </a:p>
        </p:txBody>
      </p:sp>
      <p:sp>
        <p:nvSpPr>
          <p:cNvPr id="36" name="Text 26"/>
          <p:cNvSpPr txBox="1"/>
          <p:nvPr/>
        </p:nvSpPr>
        <p:spPr>
          <a:xfrm>
            <a:off x="1314907" y="5443031"/>
            <a:ext cx="34674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검색된 후보를 </a:t>
            </a: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Cross-Encoder</a:t>
            </a: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정밀 타격하여 </a:t>
            </a: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Top-N</a:t>
            </a: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선별했는가?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Top-N 갯수 튜닝을 통해 비용과 품질 최적화</a:t>
            </a:r>
            <a:endParaRPr lang="en-US" sz="90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6484925" y="5214431"/>
            <a:ext cx="171907" cy="190195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7360920" y="1090487"/>
            <a:ext cx="4457700" cy="2648102"/>
          </a:xfrm>
          <a:prstGeom prst="roundRect">
            <a:avLst>
              <a:gd name="adj" fmla="val 2981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8"/>
          <p:cNvSpPr txBox="1"/>
          <p:nvPr/>
        </p:nvSpPr>
        <p:spPr>
          <a:xfrm>
            <a:off x="7894015" y="1328231"/>
            <a:ext cx="3801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설계 원칙 (Design Principles) </a:t>
            </a:r>
            <a:endParaRPr lang="en-US" sz="1300" dirty="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9"/>
          <a:srcRect l="-1064" r="-1064"/>
          <a:stretch/>
        </p:blipFill>
        <p:spPr>
          <a:xfrm>
            <a:off x="7598664" y="1375780"/>
            <a:ext cx="219456" cy="171907"/>
          </a:xfrm>
          <a:prstGeom prst="rect">
            <a:avLst/>
          </a:prstGeom>
        </p:spPr>
      </p:pic>
      <p:sp>
        <p:nvSpPr>
          <p:cNvPr id="41" name="Shape 29"/>
          <p:cNvSpPr/>
          <p:nvPr/>
        </p:nvSpPr>
        <p:spPr>
          <a:xfrm>
            <a:off x="7598664" y="1747941"/>
            <a:ext cx="3981298" cy="857707"/>
          </a:xfrm>
          <a:prstGeom prst="roundRect">
            <a:avLst>
              <a:gd name="adj" fmla="val 1895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0"/>
          <p:cNvSpPr txBox="1"/>
          <p:nvPr/>
        </p:nvSpPr>
        <p:spPr>
          <a:xfrm>
            <a:off x="7723022" y="1871385"/>
            <a:ext cx="121340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Recall (놓치지 않기)</a:t>
            </a:r>
            <a:endParaRPr lang="en-US" sz="900" dirty="0"/>
          </a:p>
        </p:txBody>
      </p:sp>
      <p:sp>
        <p:nvSpPr>
          <p:cNvPr id="43" name="Text 31"/>
          <p:cNvSpPr txBox="1"/>
          <p:nvPr/>
        </p:nvSpPr>
        <p:spPr>
          <a:xfrm>
            <a:off x="10251338" y="1871385"/>
            <a:ext cx="142829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Precision (정확히 집기)</a:t>
            </a:r>
            <a:endParaRPr lang="en-US" sz="900" dirty="0"/>
          </a:p>
        </p:txBody>
      </p:sp>
      <p:sp>
        <p:nvSpPr>
          <p:cNvPr id="44" name="Text 32"/>
          <p:cNvSpPr txBox="1"/>
          <p:nvPr/>
        </p:nvSpPr>
        <p:spPr>
          <a:xfrm>
            <a:off x="7665415" y="2252690"/>
            <a:ext cx="3848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Ensemble로 넓게 잡고 Reranker로 좁히는 균형</a:t>
            </a:r>
            <a:endParaRPr lang="en-US" sz="1200" dirty="0"/>
          </a:p>
        </p:txBody>
      </p:sp>
      <p:sp>
        <p:nvSpPr>
          <p:cNvPr id="45" name="Shape 33"/>
          <p:cNvSpPr/>
          <p:nvPr/>
        </p:nvSpPr>
        <p:spPr>
          <a:xfrm>
            <a:off x="7598664" y="2757439"/>
            <a:ext cx="3981298" cy="857707"/>
          </a:xfrm>
          <a:prstGeom prst="roundRect">
            <a:avLst>
              <a:gd name="adj" fmla="val 1895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4"/>
          <p:cNvSpPr txBox="1"/>
          <p:nvPr/>
        </p:nvSpPr>
        <p:spPr>
          <a:xfrm>
            <a:off x="7723022" y="2880883"/>
            <a:ext cx="95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Cost / Latency</a:t>
            </a:r>
            <a:endParaRPr lang="en-US" sz="900" dirty="0"/>
          </a:p>
        </p:txBody>
      </p:sp>
      <p:sp>
        <p:nvSpPr>
          <p:cNvPr id="47" name="Text 35"/>
          <p:cNvSpPr txBox="1"/>
          <p:nvPr/>
        </p:nvSpPr>
        <p:spPr>
          <a:xfrm>
            <a:off x="10724083" y="2880883"/>
            <a:ext cx="8101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48" name="Text 36"/>
          <p:cNvSpPr txBox="1"/>
          <p:nvPr/>
        </p:nvSpPr>
        <p:spPr>
          <a:xfrm>
            <a:off x="7627925" y="3262187"/>
            <a:ext cx="3924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실시간성 요구사항에 따른 모델 크기 타협</a:t>
            </a:r>
            <a:endParaRPr lang="en-US" sz="1200" dirty="0"/>
          </a:p>
        </p:txBody>
      </p:sp>
      <p:sp>
        <p:nvSpPr>
          <p:cNvPr id="49" name="Shape 37"/>
          <p:cNvSpPr/>
          <p:nvPr/>
        </p:nvSpPr>
        <p:spPr>
          <a:xfrm>
            <a:off x="7360920" y="3967190"/>
            <a:ext cx="4457700" cy="2419502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0" name="Text 38"/>
          <p:cNvSpPr txBox="1"/>
          <p:nvPr/>
        </p:nvSpPr>
        <p:spPr>
          <a:xfrm>
            <a:off x="7846466" y="4204934"/>
            <a:ext cx="3848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다음 단계 (Next Steps) </a:t>
            </a:r>
            <a:endParaRPr lang="en-US" sz="1300" dirty="0"/>
          </a:p>
        </p:txBody>
      </p:sp>
      <p:pic>
        <p:nvPicPr>
          <p:cNvPr id="51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598664" y="4252483"/>
            <a:ext cx="171907" cy="171907"/>
          </a:xfrm>
          <a:prstGeom prst="rect">
            <a:avLst/>
          </a:prstGeom>
        </p:spPr>
      </p:pic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11">
            <a:alphaModFix amt="50000"/>
          </a:blip>
          <a:srcRect l="-200" r="-200"/>
          <a:stretch/>
        </p:blipFill>
        <p:spPr>
          <a:xfrm>
            <a:off x="7723022" y="2099985"/>
            <a:ext cx="3726180" cy="75895"/>
          </a:xfrm>
          <a:prstGeom prst="rect">
            <a:avLst/>
          </a:prstGeom>
        </p:spPr>
      </p:pic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509760" y="2061580"/>
            <a:ext cx="152705" cy="152705"/>
          </a:xfrm>
          <a:prstGeom prst="rect">
            <a:avLst/>
          </a:prstGeom>
        </p:spPr>
      </p:pic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13">
            <a:alphaModFix amt="50000"/>
          </a:blip>
          <a:srcRect l="-200" r="-200"/>
          <a:stretch/>
        </p:blipFill>
        <p:spPr>
          <a:xfrm>
            <a:off x="7723022" y="3109483"/>
            <a:ext cx="3726180" cy="75895"/>
          </a:xfrm>
          <a:prstGeom prst="rect">
            <a:avLst/>
          </a:prstGeom>
        </p:spPr>
      </p:pic>
      <p:pic>
        <p:nvPicPr>
          <p:cNvPr id="55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646213" y="3071992"/>
            <a:ext cx="152705" cy="152705"/>
          </a:xfrm>
          <a:prstGeom prst="rect">
            <a:avLst/>
          </a:prstGeom>
        </p:spPr>
      </p:pic>
      <p:sp>
        <p:nvSpPr>
          <p:cNvPr id="56" name="Text 39"/>
          <p:cNvSpPr txBox="1"/>
          <p:nvPr/>
        </p:nvSpPr>
        <p:spPr>
          <a:xfrm>
            <a:off x="8132674" y="4700539"/>
            <a:ext cx="2762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v0 프로토타입 구축</a:t>
            </a:r>
            <a:endParaRPr lang="en-US" sz="1000" dirty="0"/>
          </a:p>
        </p:txBody>
      </p:sp>
      <p:sp>
        <p:nvSpPr>
          <p:cNvPr id="57" name="Text 40"/>
          <p:cNvSpPr txBox="1"/>
          <p:nvPr/>
        </p:nvSpPr>
        <p:spPr>
          <a:xfrm>
            <a:off x="8132674" y="4890734"/>
            <a:ext cx="29288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베이스라인(PyMuPDF + Ensemble) 파이프라인 완성</a:t>
            </a:r>
            <a:endParaRPr lang="en-US" sz="900" dirty="0"/>
          </a:p>
        </p:txBody>
      </p:sp>
      <p:sp>
        <p:nvSpPr>
          <p:cNvPr id="58" name="Text 41"/>
          <p:cNvSpPr txBox="1"/>
          <p:nvPr/>
        </p:nvSpPr>
        <p:spPr>
          <a:xfrm>
            <a:off x="8132674" y="5195229"/>
            <a:ext cx="23865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지표 설정</a:t>
            </a:r>
            <a:endParaRPr lang="en-US" sz="1000" dirty="0"/>
          </a:p>
        </p:txBody>
      </p:sp>
      <p:sp>
        <p:nvSpPr>
          <p:cNvPr id="59" name="Text 42"/>
          <p:cNvSpPr txBox="1"/>
          <p:nvPr/>
        </p:nvSpPr>
        <p:spPr>
          <a:xfrm>
            <a:off x="8132674" y="5386339"/>
            <a:ext cx="262981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Recall@k, Answerable@k 등 정량 지표 정의</a:t>
            </a:r>
            <a:endParaRPr lang="en-US" sz="900" dirty="0"/>
          </a:p>
        </p:txBody>
      </p:sp>
      <p:sp>
        <p:nvSpPr>
          <p:cNvPr id="60" name="Text 43"/>
          <p:cNvSpPr txBox="1"/>
          <p:nvPr/>
        </p:nvSpPr>
        <p:spPr>
          <a:xfrm>
            <a:off x="8132674" y="5690834"/>
            <a:ext cx="231800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A/B 실험 &amp; 고도화</a:t>
            </a:r>
            <a:endParaRPr lang="en-US" sz="1000" dirty="0"/>
          </a:p>
        </p:txBody>
      </p:sp>
      <p:sp>
        <p:nvSpPr>
          <p:cNvPr id="61" name="Text 44"/>
          <p:cNvSpPr txBox="1"/>
          <p:nvPr/>
        </p:nvSpPr>
        <p:spPr>
          <a:xfrm>
            <a:off x="8132674" y="5881029"/>
            <a:ext cx="26526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Chunk Size 변경, VLM 도입 등 성능 비교 실험</a:t>
            </a:r>
            <a:endParaRPr lang="en-US" sz="900" dirty="0"/>
          </a:p>
        </p:txBody>
      </p:sp>
      <p:sp>
        <p:nvSpPr>
          <p:cNvPr id="62" name="Shape 45"/>
          <p:cNvSpPr/>
          <p:nvPr/>
        </p:nvSpPr>
        <p:spPr>
          <a:xfrm>
            <a:off x="7675474" y="4700539"/>
            <a:ext cx="304495" cy="304495"/>
          </a:xfrm>
          <a:prstGeom prst="ellipse">
            <a:avLst/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46"/>
          <p:cNvSpPr/>
          <p:nvPr/>
        </p:nvSpPr>
        <p:spPr>
          <a:xfrm>
            <a:off x="7646213" y="4700539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64" name="Text 47"/>
          <p:cNvSpPr/>
          <p:nvPr/>
        </p:nvSpPr>
        <p:spPr>
          <a:xfrm>
            <a:off x="7646213" y="5195229"/>
            <a:ext cx="362102" cy="305410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65" name="Text 48"/>
          <p:cNvSpPr/>
          <p:nvPr/>
        </p:nvSpPr>
        <p:spPr>
          <a:xfrm>
            <a:off x="7646213" y="5690834"/>
            <a:ext cx="362102" cy="305410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1593</Words>
  <Application>Microsoft Macintosh PowerPoint</Application>
  <PresentationFormat>와이드스크린</PresentationFormat>
  <Paragraphs>290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Malgun Gothic</vt:lpstr>
      <vt:lpstr>Noto Sans KR</vt:lpstr>
      <vt:lpstr>ui-monospace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진석 김</cp:lastModifiedBy>
  <cp:revision>4</cp:revision>
  <dcterms:created xsi:type="dcterms:W3CDTF">2026-02-28T00:30:54Z</dcterms:created>
  <dcterms:modified xsi:type="dcterms:W3CDTF">2026-03-01T06:52:36Z</dcterms:modified>
</cp:coreProperties>
</file>
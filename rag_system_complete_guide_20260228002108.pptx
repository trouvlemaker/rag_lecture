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0" y="0"/>
            <a:ext cx="3047695" cy="7589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-196" r="-196" t="0" b="0"/>
          <a:stretch/>
        </p:blipFill>
        <p:spPr>
          <a:xfrm>
            <a:off x="3047695" y="0"/>
            <a:ext cx="3047695" cy="7589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-196" r="-196" t="0" b="0"/>
          <a:stretch/>
        </p:blipFill>
        <p:spPr>
          <a:xfrm>
            <a:off x="6096305" y="0"/>
            <a:ext cx="3047695" cy="7589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-196" r="-196" t="0" b="0"/>
          <a:stretch/>
        </p:blipFill>
        <p:spPr>
          <a:xfrm>
            <a:off x="9144000" y="0"/>
            <a:ext cx="3047695" cy="7589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9334195" y="1429207"/>
            <a:ext cx="952805" cy="952805"/>
          </a:xfrm>
          <a:prstGeom prst="ellipse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952805" y="4476902"/>
            <a:ext cx="2857500" cy="2857500"/>
          </a:xfrm>
          <a:prstGeom prst="ellipse">
            <a:avLst/>
          </a:prstGeom>
          <a:noFill/>
          <a:ln w="12700">
            <a:solidFill>
              <a:srgbClr val="34A853"/>
            </a:solidFill>
            <a:prstDash val="solid"/>
          </a:ln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9098280" y="6286500"/>
            <a:ext cx="190195" cy="1527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384487" y="6248095"/>
            <a:ext cx="2664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Generative AI Education Series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761695" y="665683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Technical Guide Series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1046988"/>
            <a:ext cx="1084021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spc="-112" kern="0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시스템</a:t>
            </a:r>
            <a:pPr algn="l" indent="0" marL="0">
              <a:buNone/>
            </a:pPr>
            <a:endParaRPr lang="en-US" sz="5400" dirty="0"/>
          </a:p>
          <a:p>
            <a:pPr algn="l" indent="0" marL="0">
              <a:buNone/>
            </a:pPr>
            <a:r>
              <a:rPr lang="en-US" sz="5400" b="1" spc="-112" kern="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완벽 가이드 </a:t>
            </a:r>
            <a:endParaRPr lang="en-US" sz="5400" dirty="0"/>
          </a:p>
        </p:txBody>
      </p:sp>
      <p:sp>
        <p:nvSpPr>
          <p:cNvPr id="16" name="Text 8"/>
          <p:cNvSpPr txBox="1"/>
          <p:nvPr/>
        </p:nvSpPr>
        <p:spPr>
          <a:xfrm>
            <a:off x="761695" y="2784348"/>
            <a:ext cx="7720279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환각을 줄이고 문서 근거 기반으로 정확한 답변을 생성하는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엔터프라이즈급 RAG 파이프라인 설계 및 구축 전략 </a:t>
            </a:r>
            <a:endParaRPr lang="en-US" sz="21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61695" y="4483303"/>
            <a:ext cx="3353105" cy="1709014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28700" y="5207508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1028700" y="5483657"/>
            <a:ext cx="2934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 없는 정확한 문서 기반 답변 생성 시스템 설계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419295" y="4483303"/>
            <a:ext cx="3353105" cy="1709014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686300" y="5207508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000" dirty="0"/>
          </a:p>
        </p:txBody>
      </p:sp>
      <p:sp>
        <p:nvSpPr>
          <p:cNvPr id="22" name="Text 12"/>
          <p:cNvSpPr txBox="1"/>
          <p:nvPr/>
        </p:nvSpPr>
        <p:spPr>
          <a:xfrm>
            <a:off x="4686300" y="5483657"/>
            <a:ext cx="2934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RAG를 실무에 적용하려는 엔지니어, 기획자, 데이터 애널리스트</a:t>
            </a:r>
            <a:endParaRPr lang="en-US" sz="13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076895" y="4483303"/>
            <a:ext cx="3353105" cy="170901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8343900" y="5207508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25" name="Text 14"/>
          <p:cNvSpPr txBox="1"/>
          <p:nvPr/>
        </p:nvSpPr>
        <p:spPr>
          <a:xfrm>
            <a:off x="8343900" y="5483657"/>
            <a:ext cx="2934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→ PDF 추출 → 청킹 → 검색 알고리즘 → 리랭킹 최적화 → 실무 가이드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28700" y="4778654"/>
            <a:ext cx="228600" cy="228600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rcRect l="-80" r="-80" t="0" b="0"/>
          <a:stretch/>
        </p:blipFill>
        <p:spPr>
          <a:xfrm>
            <a:off x="4686300" y="4778654"/>
            <a:ext cx="286207" cy="228600"/>
          </a:xfrm>
          <a:prstGeom prst="rect">
            <a:avLst/>
          </a:prstGeom>
        </p:spPr>
      </p:pic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5" b="-45"/>
          <a:stretch/>
        </p:blipFill>
        <p:spPr>
          <a:xfrm>
            <a:off x="8343900" y="4778654"/>
            <a:ext cx="2569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064447" y="6495898"/>
            <a:ext cx="32762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Generative AI Education Series | RAG Fundamentals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75" kern="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개념과 필요성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571500" y="381305"/>
            <a:ext cx="75895" cy="400507"/>
          </a:xfrm>
          <a:prstGeom prst="roundRect">
            <a:avLst>
              <a:gd name="adj" fmla="val 1204822"/>
            </a:avLst>
          </a:prstGeom>
          <a:solidFill>
            <a:srgbClr val="4285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1076249"/>
            <a:ext cx="11011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환각 문제를 해결하고 데이터 기반의 정확성을 확보하는 아키텍처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19802" y="1714500"/>
            <a:ext cx="6801307" cy="1209751"/>
          </a:xfrm>
          <a:prstGeom prst="roundRect">
            <a:avLst>
              <a:gd name="adj" fmla="val 19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9802" y="1714500"/>
            <a:ext cx="47549" cy="1209751"/>
          </a:xfrm>
          <a:prstGeom prst="roundRect">
            <a:avLst>
              <a:gd name="adj" fmla="val 484553"/>
            </a:avLst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57546" y="1904695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CE8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34356" y="1981505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77256" y="1928470"/>
            <a:ext cx="23463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필요한가? (LLM의 한계)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57546" y="2305202"/>
            <a:ext cx="64492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문장을 생성하는 데 강하지만, </a:t>
            </a:r>
            <a:pPr algn="l" indent="0" marL="0">
              <a:buNone/>
            </a:pPr>
            <a:r>
              <a:rPr lang="en-US" sz="1100" b="1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밖의 지식</a:t>
            </a:r>
            <a:pPr algn="l" indent="0" marL="0">
              <a:buNone/>
            </a:pPr>
            <a:r>
              <a:rPr lang="en-US" sz="11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(사내 문서, 최신 수치)에 대해선 틀릴 수 있습니다. 틀려도 자신 있게 말하는 </a:t>
            </a:r>
            <a:pPr algn="l" indent="0" marL="0">
              <a:buNone/>
            </a:pPr>
            <a:r>
              <a:rPr lang="en-US" sz="1100" b="1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</a:t>
            </a:r>
            <a:pPr algn="l" indent="0" marL="0">
              <a:buNone/>
            </a:pPr>
            <a:r>
              <a:rPr lang="en-US" sz="11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문제가 발생합니다.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19802" y="3114446"/>
            <a:ext cx="6801307" cy="1209751"/>
          </a:xfrm>
          <a:prstGeom prst="roundRect">
            <a:avLst>
              <a:gd name="adj" fmla="val 19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19802" y="3114446"/>
            <a:ext cx="47549" cy="1209751"/>
          </a:xfrm>
          <a:prstGeom prst="roundRect">
            <a:avLst>
              <a:gd name="adj" fmla="val 484553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57546" y="3305556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5115154" y="3381451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77256" y="3329330"/>
            <a:ext cx="39154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(Retrieval-Augmented Generation)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057546" y="3705149"/>
            <a:ext cx="64492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"LLM이 똑똑해서 맞히는" 구조가 아니라, </a:t>
            </a:r>
            <a:pPr algn="l" indent="0" marL="0">
              <a:buNone/>
            </a:pPr>
            <a:r>
              <a:rPr lang="en-US" sz="1100" b="1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"문서에서 근거를 찾아와서 보고 답하게 만드는"</a:t>
            </a:r>
            <a:pPr algn="l" indent="0" marL="0">
              <a:buNone/>
            </a:pPr>
            <a:r>
              <a:rPr lang="en-US" sz="11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구조입니다. 오픈북 시험과 같습니다.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19802" y="4515307"/>
            <a:ext cx="6801307" cy="1410005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19802" y="4515307"/>
            <a:ext cx="47549" cy="1410005"/>
          </a:xfrm>
          <a:prstGeom prst="roundRect">
            <a:avLst>
              <a:gd name="adj" fmla="val 415799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57546" y="4705502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34356" y="4781398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77256" y="4729277"/>
            <a:ext cx="14319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결정 3요소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057546" y="5105095"/>
            <a:ext cx="2066544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115154" y="520110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추출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077663" y="5467198"/>
            <a:ext cx="2027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파싱 정확도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213702" y="5105095"/>
            <a:ext cx="2066544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270394" y="520110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청킹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233818" y="5467198"/>
            <a:ext cx="2027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분할 단위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9369857" y="5105095"/>
            <a:ext cx="2066544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426550" y="520110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검색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389974" y="5467198"/>
            <a:ext cx="2027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근거 탐색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819802" y="6886346"/>
            <a:ext cx="6801307" cy="1923898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819802" y="6886346"/>
            <a:ext cx="47549" cy="1923898"/>
          </a:xfrm>
          <a:prstGeom prst="roundRect">
            <a:avLst>
              <a:gd name="adj" fmla="val 304645"/>
            </a:avLst>
          </a:prstGeom>
          <a:solidFill>
            <a:srgbClr val="FBBC04"/>
          </a:solidFill>
          <a:ln w="12700">
            <a:solidFill>
              <a:srgbClr val="FBBC04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057546" y="7077456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EF7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34356" y="7153351"/>
            <a:ext cx="152705" cy="15270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477256" y="7101230"/>
            <a:ext cx="1317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유형 진단</a:t>
            </a:r>
            <a:endParaRPr lang="en-US" sz="13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057546" y="7515454"/>
            <a:ext cx="152705" cy="15270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305349" y="7477049"/>
            <a:ext cx="165506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검색이 엉뚱함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답변이 틀리거나 "근거 없음" </a:t>
            </a:r>
            <a:endParaRPr lang="en-US" sz="10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339328" y="7515454"/>
            <a:ext cx="15270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587130" y="7477049"/>
            <a:ext cx="165506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검색은 맞으나 생성 실패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근거를 잘못 요약하거나 왜곡 </a:t>
            </a:r>
            <a:endParaRPr lang="en-US" sz="10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5057546" y="8182051"/>
            <a:ext cx="114300" cy="1527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266944" y="8143646"/>
            <a:ext cx="11146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추출 깨짐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자체가 불가능 </a:t>
            </a:r>
            <a:endParaRPr lang="en-US" sz="10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339328" y="8182051"/>
            <a:ext cx="152705" cy="15270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587130" y="8143646"/>
            <a:ext cx="14008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청킹 단위 오류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문맥이 잘려 답변 불완전 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71500" y="1714500"/>
            <a:ext cx="3866998" cy="7095744"/>
          </a:xfrm>
          <a:prstGeom prst="roundRect">
            <a:avLst>
              <a:gd name="adj" fmla="val 233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433218" y="3295498"/>
            <a:ext cx="142646" cy="190195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866851" y="3719779"/>
            <a:ext cx="3276295" cy="3086100"/>
          </a:xfrm>
          <a:prstGeom prst="roundRect">
            <a:avLst>
              <a:gd name="adj" fmla="val 2926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1057046" y="3605479"/>
            <a:ext cx="587959" cy="181051"/>
          </a:xfrm>
          <a:prstGeom prst="roundRect">
            <a:avLst>
              <a:gd name="adj" fmla="val 505051"/>
            </a:avLst>
          </a:prstGeom>
          <a:solidFill>
            <a:srgbClr val="4285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1067105" y="5195621"/>
            <a:ext cx="171907" cy="190195"/>
          </a:xfrm>
          <a:prstGeom prst="rect">
            <a:avLst/>
          </a:prstGeom>
        </p:spPr>
      </p:pic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433218" y="7048195"/>
            <a:ext cx="142646" cy="190195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866851" y="2009851"/>
            <a:ext cx="3276295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8000"/>
              </a:srgbClr>
            </a:outerShdw>
          </a:effectLst>
        </p:spPr>
      </p:sp>
      <p:sp>
        <p:nvSpPr>
          <p:cNvPr id="55" name="Text 41"/>
          <p:cNvSpPr txBox="1"/>
          <p:nvPr/>
        </p:nvSpPr>
        <p:spPr>
          <a:xfrm>
            <a:off x="961949" y="2542946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1000354" y="2819095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"2026년 1분기 매출은?"</a:t>
            </a:r>
            <a:endParaRPr lang="en-US" sz="9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rcRect l="-57" r="-57" t="0" b="0"/>
          <a:stretch/>
        </p:blipFill>
        <p:spPr>
          <a:xfrm>
            <a:off x="2404872" y="2219249"/>
            <a:ext cx="200254" cy="228600"/>
          </a:xfrm>
          <a:prstGeom prst="rect">
            <a:avLst/>
          </a:prstGeom>
        </p:spPr>
      </p:pic>
      <p:sp>
        <p:nvSpPr>
          <p:cNvPr id="58" name="Shape 43"/>
          <p:cNvSpPr/>
          <p:nvPr/>
        </p:nvSpPr>
        <p:spPr>
          <a:xfrm>
            <a:off x="1067105" y="3919118"/>
            <a:ext cx="2876702" cy="1086307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8000"/>
              </a:srgbClr>
            </a:outerShdw>
          </a:effectLst>
        </p:spPr>
      </p:sp>
      <p:sp>
        <p:nvSpPr>
          <p:cNvPr id="59" name="Text 44"/>
          <p:cNvSpPr txBox="1"/>
          <p:nvPr/>
        </p:nvSpPr>
        <p:spPr>
          <a:xfrm>
            <a:off x="1207008" y="4395521"/>
            <a:ext cx="2595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(검색)</a:t>
            </a:r>
            <a:endParaRPr lang="en-US" sz="1200" dirty="0"/>
          </a:p>
        </p:txBody>
      </p:sp>
      <p:sp>
        <p:nvSpPr>
          <p:cNvPr id="60" name="Text 45"/>
          <p:cNvSpPr txBox="1"/>
          <p:nvPr/>
        </p:nvSpPr>
        <p:spPr>
          <a:xfrm>
            <a:off x="1207008" y="4671670"/>
            <a:ext cx="2595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 조각(Chunk) 탐색</a:t>
            </a:r>
            <a:endParaRPr lang="en-US" sz="900" dirty="0"/>
          </a:p>
        </p:txBody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409444" y="4114800"/>
            <a:ext cx="190195" cy="190195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1067105" y="5524805"/>
            <a:ext cx="2876702" cy="1086307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8000"/>
              </a:srgbClr>
            </a:outerShdw>
          </a:effectLst>
        </p:spPr>
      </p:sp>
      <p:sp>
        <p:nvSpPr>
          <p:cNvPr id="63" name="Text 47"/>
          <p:cNvSpPr txBox="1"/>
          <p:nvPr/>
        </p:nvSpPr>
        <p:spPr>
          <a:xfrm>
            <a:off x="1207008" y="6001207"/>
            <a:ext cx="2595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 (생성)</a:t>
            </a:r>
            <a:endParaRPr lang="en-US" sz="1200" dirty="0"/>
          </a:p>
        </p:txBody>
      </p:sp>
      <p:sp>
        <p:nvSpPr>
          <p:cNvPr id="64" name="Text 48"/>
          <p:cNvSpPr txBox="1"/>
          <p:nvPr/>
        </p:nvSpPr>
        <p:spPr>
          <a:xfrm>
            <a:off x="1162202" y="6277356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찾은 근거 기반 답변 생성</a:t>
            </a:r>
            <a:endParaRPr lang="en-US" sz="90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409444" y="5719572"/>
            <a:ext cx="190195" cy="190195"/>
          </a:xfrm>
          <a:prstGeom prst="rect">
            <a:avLst/>
          </a:prstGeom>
        </p:spPr>
      </p:pic>
      <p:sp>
        <p:nvSpPr>
          <p:cNvPr id="66" name="Shape 49"/>
          <p:cNvSpPr/>
          <p:nvPr/>
        </p:nvSpPr>
        <p:spPr>
          <a:xfrm>
            <a:off x="866851" y="7377379"/>
            <a:ext cx="3276295" cy="1143000"/>
          </a:xfrm>
          <a:prstGeom prst="roundRect">
            <a:avLst>
              <a:gd name="adj" fmla="val 16000"/>
            </a:avLst>
          </a:prstGeom>
          <a:solidFill>
            <a:srgbClr val="2021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8000"/>
              </a:srgbClr>
            </a:outerShdw>
          </a:effectLst>
        </p:spPr>
      </p:sp>
      <p:sp>
        <p:nvSpPr>
          <p:cNvPr id="67" name="Text 50"/>
          <p:cNvSpPr txBox="1"/>
          <p:nvPr/>
        </p:nvSpPr>
        <p:spPr>
          <a:xfrm>
            <a:off x="961949" y="7910474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답변</a:t>
            </a:r>
            <a:endParaRPr lang="en-US" sz="1200" dirty="0"/>
          </a:p>
        </p:txBody>
      </p:sp>
      <p:sp>
        <p:nvSpPr>
          <p:cNvPr id="68" name="Text 51"/>
          <p:cNvSpPr txBox="1"/>
          <p:nvPr/>
        </p:nvSpPr>
        <p:spPr>
          <a:xfrm>
            <a:off x="961949" y="8186623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"보고서 12페이지에 따르면..."</a:t>
            </a:r>
            <a:endParaRPr lang="en-US" sz="90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391156" y="758677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39835" y="6495898"/>
            <a:ext cx="36850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Generative AI Education Series | PDF Extraction Strategies 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520379" y="6524244"/>
            <a:ext cx="142646" cy="1143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771754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추출 방식 비교: 텍스트 vs 구조화 vs 비전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362456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성능의 첫 번째 관문, 문서 특성(텍스트/표/레이아웃)에 맞는 최적의 추출 전략 선택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71500" y="381305"/>
            <a:ext cx="1857146" cy="276149"/>
          </a:xfrm>
          <a:prstGeom prst="roundRect">
            <a:avLst>
              <a:gd name="adj" fmla="val 331126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4010" y="381305"/>
            <a:ext cx="193212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1000" b="1" spc="38" kern="0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Extraction Strategy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571500" y="1876349"/>
            <a:ext cx="3530498" cy="478414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1500" y="1933956"/>
            <a:ext cx="3534156" cy="1514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571500" y="3439058"/>
            <a:ext cx="35341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0100" y="216255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7377" y="2295144"/>
            <a:ext cx="142646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0100" y="2771546"/>
            <a:ext cx="3191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PyMuPDFLoader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00100" y="3095244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텍스트 추출 방식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800100" y="3633826"/>
            <a:ext cx="3076956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14400" y="3748126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방식: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PDF의 텍스트 레이어를 좌표 기반으로 직접 읽어 순수 텍스트(Raw Text)만 추출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" y="4414723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빠르고 가벼움, 추가 비용 $0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0100" y="4443070"/>
            <a:ext cx="123444" cy="1234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3544" y="4668012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대량의 문서 처리에 유리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0100" y="4696358"/>
            <a:ext cx="123444" cy="1234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3544" y="4921301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표/다단 레이아웃이 깨져서 나옴</a:t>
            </a:r>
            <a:endParaRPr lang="en-US" sz="9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0100" y="4949647"/>
            <a:ext cx="123444" cy="1234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23544" y="5174590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헤더/푸터가 본문에 무분별하게 섞임</a:t>
            </a:r>
            <a:endParaRPr lang="en-US" sz="9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00100" y="5202936"/>
            <a:ext cx="123444" cy="1234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0100" y="5542178"/>
            <a:ext cx="3076956" cy="895198"/>
          </a:xfrm>
          <a:prstGeom prst="roundRect">
            <a:avLst>
              <a:gd name="adj" fmla="val 2608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1120140" y="5542178"/>
            <a:ext cx="2832811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 위주의 단순 문서, 빠르게 베이스라인 모델을 구축할 때 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1120140" y="5704027"/>
            <a:ext cx="2785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5F636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endParaRPr lang="en-US" sz="8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rcRect l="-2174" r="-2174" t="0" b="0"/>
          <a:stretch/>
        </p:blipFill>
        <p:spPr>
          <a:xfrm>
            <a:off x="961949" y="5736031"/>
            <a:ext cx="123444" cy="105156"/>
          </a:xfrm>
          <a:prstGeom prst="rect">
            <a:avLst/>
          </a:prstGeom>
        </p:spPr>
      </p:pic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2" r="-2" t="0" b="0"/>
          <a:stretch/>
        </p:blipFill>
        <p:spPr>
          <a:xfrm>
            <a:off x="4330598" y="1876349"/>
            <a:ext cx="3530498" cy="4784141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4330598" y="1933956"/>
            <a:ext cx="3534156" cy="1514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2"/>
          <p:cNvSpPr/>
          <p:nvPr/>
        </p:nvSpPr>
        <p:spPr>
          <a:xfrm>
            <a:off x="4330598" y="3439058"/>
            <a:ext cx="35341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4559198" y="216255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16475" y="2295144"/>
            <a:ext cx="142646" cy="19019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4559198" y="2771546"/>
            <a:ext cx="3191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PyMuPDF4LLM</a:t>
            </a:r>
            <a:endParaRPr lang="en-US" sz="1500" dirty="0"/>
          </a:p>
        </p:txBody>
      </p:sp>
      <p:sp>
        <p:nvSpPr>
          <p:cNvPr id="38" name="Text 25"/>
          <p:cNvSpPr txBox="1"/>
          <p:nvPr/>
        </p:nvSpPr>
        <p:spPr>
          <a:xfrm>
            <a:off x="4559198" y="3095244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친화적 구조화 추출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4559198" y="3633826"/>
            <a:ext cx="3076956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4673498" y="3748126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방식: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텍스트를 Markdown 형식으로 변환하여 헤더, 리스트, 문단 구조를 최대한 보존</a:t>
            </a:r>
            <a:endParaRPr lang="en-US" sz="1000" dirty="0"/>
          </a:p>
        </p:txBody>
      </p:sp>
      <p:sp>
        <p:nvSpPr>
          <p:cNvPr id="41" name="Text 28"/>
          <p:cNvSpPr txBox="1"/>
          <p:nvPr/>
        </p:nvSpPr>
        <p:spPr>
          <a:xfrm>
            <a:off x="4682642" y="4414723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 흐름과 구조가 자연스러움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559198" y="4443070"/>
            <a:ext cx="123444" cy="123444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4682642" y="4668012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이해하기 좋은 포맷 제공</a:t>
            </a:r>
            <a:endParaRPr lang="en-US" sz="9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559198" y="4696358"/>
            <a:ext cx="123444" cy="123444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4682642" y="4921301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표는 여전히 복원 어려움</a:t>
            </a:r>
            <a:endParaRPr lang="en-US" sz="9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559198" y="4949647"/>
            <a:ext cx="123444" cy="123444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4682642" y="5174590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내 텍스트는 추출 불가</a:t>
            </a:r>
            <a:endParaRPr lang="en-US" sz="9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559198" y="5202936"/>
            <a:ext cx="123444" cy="123444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4559198" y="5542178"/>
            <a:ext cx="3076956" cy="895198"/>
          </a:xfrm>
          <a:prstGeom prst="roundRect">
            <a:avLst>
              <a:gd name="adj" fmla="val 2608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50" name="Text 33"/>
          <p:cNvSpPr txBox="1"/>
          <p:nvPr/>
        </p:nvSpPr>
        <p:spPr>
          <a:xfrm>
            <a:off x="4879238" y="5542178"/>
            <a:ext cx="2832811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967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pPr algn="l" indent="0" marL="0">
              <a:buNone/>
            </a:pPr>
            <a:r>
              <a:rPr lang="en-US" sz="900" dirty="0">
                <a:solidFill>
                  <a:srgbClr val="1967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구조(헤더/문단)가 중요한 보고서, 텍스트 중심이지만 가독성이 필요할 때 </a:t>
            </a:r>
            <a:endParaRPr lang="en-US" sz="900" dirty="0"/>
          </a:p>
        </p:txBody>
      </p:sp>
      <p:sp>
        <p:nvSpPr>
          <p:cNvPr id="51" name="Text 34"/>
          <p:cNvSpPr txBox="1"/>
          <p:nvPr/>
        </p:nvSpPr>
        <p:spPr>
          <a:xfrm>
            <a:off x="4879238" y="5704027"/>
            <a:ext cx="2785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967D2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endParaRPr lang="en-US" sz="8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>
            <a:alphaModFix amt="80000"/>
          </a:blip>
          <a:srcRect l="-2174" r="-2174" t="0" b="0"/>
          <a:stretch/>
        </p:blipFill>
        <p:spPr>
          <a:xfrm>
            <a:off x="4721047" y="5736031"/>
            <a:ext cx="123444" cy="105156"/>
          </a:xfrm>
          <a:prstGeom prst="rect">
            <a:avLst/>
          </a:prstGeom>
        </p:spPr>
      </p:pic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rcRect l="-2" r="-2" t="0" b="0"/>
          <a:stretch/>
        </p:blipFill>
        <p:spPr>
          <a:xfrm>
            <a:off x="8089697" y="1876349"/>
            <a:ext cx="3530498" cy="4784141"/>
          </a:xfrm>
          <a:prstGeom prst="rect">
            <a:avLst/>
          </a:prstGeom>
        </p:spPr>
      </p:pic>
      <p:sp>
        <p:nvSpPr>
          <p:cNvPr id="54" name="Shape 35"/>
          <p:cNvSpPr/>
          <p:nvPr/>
        </p:nvSpPr>
        <p:spPr>
          <a:xfrm>
            <a:off x="8089697" y="1933956"/>
            <a:ext cx="3534156" cy="1514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36"/>
          <p:cNvSpPr/>
          <p:nvPr/>
        </p:nvSpPr>
        <p:spPr>
          <a:xfrm>
            <a:off x="8089697" y="3439058"/>
            <a:ext cx="35341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56" name="Shape 37"/>
          <p:cNvSpPr/>
          <p:nvPr/>
        </p:nvSpPr>
        <p:spPr>
          <a:xfrm>
            <a:off x="8318297" y="216255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rcRect l="-1282" r="-1282" t="0" b="0"/>
          <a:stretch/>
        </p:blipFill>
        <p:spPr>
          <a:xfrm>
            <a:off x="8437169" y="2295144"/>
            <a:ext cx="219456" cy="190195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8318297" y="2771546"/>
            <a:ext cx="3191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/ Multimodal</a:t>
            </a:r>
            <a:endParaRPr lang="en-US" sz="1500" dirty="0"/>
          </a:p>
        </p:txBody>
      </p:sp>
      <p:sp>
        <p:nvSpPr>
          <p:cNvPr id="59" name="Text 39"/>
          <p:cNvSpPr txBox="1"/>
          <p:nvPr/>
        </p:nvSpPr>
        <p:spPr>
          <a:xfrm>
            <a:off x="8318297" y="3095244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 모델 기반 해석</a:t>
            </a:r>
            <a:endParaRPr lang="en-US" sz="900" dirty="0"/>
          </a:p>
        </p:txBody>
      </p:sp>
      <p:sp>
        <p:nvSpPr>
          <p:cNvPr id="60" name="Shape 40"/>
          <p:cNvSpPr/>
          <p:nvPr/>
        </p:nvSpPr>
        <p:spPr>
          <a:xfrm>
            <a:off x="8318297" y="3633826"/>
            <a:ext cx="3076956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1"/>
          <p:cNvSpPr txBox="1"/>
          <p:nvPr/>
        </p:nvSpPr>
        <p:spPr>
          <a:xfrm>
            <a:off x="8432597" y="3748126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방식: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PDF 페이지를 이미지로 캡처 후, GPT-4o 같은 모델이 "눈으로 보고" 해석</a:t>
            </a:r>
            <a:endParaRPr lang="en-US" sz="1000" dirty="0"/>
          </a:p>
        </p:txBody>
      </p:sp>
      <p:sp>
        <p:nvSpPr>
          <p:cNvPr id="62" name="Text 42"/>
          <p:cNvSpPr txBox="1"/>
          <p:nvPr/>
        </p:nvSpPr>
        <p:spPr>
          <a:xfrm>
            <a:off x="8441741" y="4414723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표/그래프의 수치와 관계 완벽 이해</a:t>
            </a:r>
            <a:endParaRPr lang="en-US" sz="900" dirty="0"/>
          </a:p>
        </p:txBody>
      </p:sp>
      <p:pic>
        <p:nvPicPr>
          <p:cNvPr id="6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8318297" y="4443070"/>
            <a:ext cx="123444" cy="123444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8441741" y="4668012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레이아웃/캡션 정보 보존</a:t>
            </a:r>
            <a:endParaRPr lang="en-US" sz="900" dirty="0"/>
          </a:p>
        </p:txBody>
      </p:sp>
      <p:pic>
        <p:nvPicPr>
          <p:cNvPr id="6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8318297" y="4696358"/>
            <a:ext cx="123444" cy="123444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8441741" y="4921301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비용이 높고 속도가 느림 (API 호출)</a:t>
            </a:r>
            <a:endParaRPr lang="en-US" sz="900" dirty="0"/>
          </a:p>
        </p:txBody>
      </p:sp>
      <p:pic>
        <p:nvPicPr>
          <p:cNvPr id="67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8318297" y="4949647"/>
            <a:ext cx="123444" cy="123444"/>
          </a:xfrm>
          <a:prstGeom prst="rect">
            <a:avLst/>
          </a:prstGeom>
        </p:spPr>
      </p:pic>
      <p:sp>
        <p:nvSpPr>
          <p:cNvPr id="68" name="Text 45"/>
          <p:cNvSpPr txBox="1"/>
          <p:nvPr/>
        </p:nvSpPr>
        <p:spPr>
          <a:xfrm>
            <a:off x="8441741" y="5174590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글씨 인식 오류 가능성 존재</a:t>
            </a:r>
            <a:endParaRPr lang="en-US" sz="900" dirty="0"/>
          </a:p>
        </p:txBody>
      </p:sp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318297" y="5202936"/>
            <a:ext cx="123444" cy="123444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8318297" y="5542178"/>
            <a:ext cx="3076956" cy="895198"/>
          </a:xfrm>
          <a:prstGeom prst="roundRect">
            <a:avLst>
              <a:gd name="adj" fmla="val 26080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71" name="Text 47"/>
          <p:cNvSpPr txBox="1"/>
          <p:nvPr/>
        </p:nvSpPr>
        <p:spPr>
          <a:xfrm>
            <a:off x="8638337" y="5542178"/>
            <a:ext cx="2832811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7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pPr algn="l" indent="0" marL="0">
              <a:buNone/>
            </a:pPr>
            <a:r>
              <a:rPr lang="en-US" sz="900" dirty="0">
                <a:solidFill>
                  <a:srgbClr val="137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재무제표, 기술 도표 등 "표와 그래프의 값"이 핵심 정답인 문서 </a:t>
            </a:r>
            <a:endParaRPr lang="en-US" sz="900" dirty="0"/>
          </a:p>
        </p:txBody>
      </p:sp>
      <p:sp>
        <p:nvSpPr>
          <p:cNvPr id="72" name="Text 48"/>
          <p:cNvSpPr txBox="1"/>
          <p:nvPr/>
        </p:nvSpPr>
        <p:spPr>
          <a:xfrm>
            <a:off x="8638337" y="5704027"/>
            <a:ext cx="2785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13733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endParaRPr lang="en-US" sz="800" dirty="0"/>
          </a:p>
        </p:txBody>
      </p:sp>
      <p:pic>
        <p:nvPicPr>
          <p:cNvPr id="73" name="Image 22" descr="preencoded.png">    </p:cNvPr>
          <p:cNvPicPr>
            <a:picLocks noChangeAspect="1"/>
          </p:cNvPicPr>
          <p:nvPr/>
        </p:nvPicPr>
        <p:blipFill>
          <a:blip r:embed="rId23">
            <a:alphaModFix amt="80000"/>
          </a:blip>
          <a:srcRect l="-2174" r="-2174" t="0" b="0"/>
          <a:stretch/>
        </p:blipFill>
        <p:spPr>
          <a:xfrm>
            <a:off x="8480146" y="5736031"/>
            <a:ext cx="123444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962302"/>
            <a:ext cx="11048695" cy="2533802"/>
          </a:xfrm>
          <a:prstGeom prst="roundRect">
            <a:avLst>
              <a:gd name="adj" fmla="val 651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0" b="0"/>
          <a:stretch/>
        </p:blipFill>
        <p:spPr>
          <a:xfrm>
            <a:off x="10315346" y="2162556"/>
            <a:ext cx="1104595" cy="110459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3784702" y="3124505"/>
            <a:ext cx="142646" cy="228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7216445" y="3124505"/>
            <a:ext cx="142646" cy="228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71500" y="4724705"/>
            <a:ext cx="3534156" cy="2723998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71500" y="4724705"/>
            <a:ext cx="3534156" cy="38405"/>
          </a:xfrm>
          <a:prstGeom prst="roundRect">
            <a:avLst>
              <a:gd name="adj" fmla="val 266399"/>
            </a:avLst>
          </a:prstGeom>
          <a:solidFill>
            <a:srgbClr val="1A73E8"/>
          </a:solidFill>
          <a:ln w="12700">
            <a:solidFill>
              <a:srgbClr val="1A73E8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00100" y="4990795"/>
            <a:ext cx="457200" cy="457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957377" y="5105095"/>
            <a:ext cx="142646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00100" y="5600700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청킹(Chunking)을 하는가?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800100" y="5971946"/>
            <a:ext cx="31528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입력 길이(Context Window)는 제한적이며, 문서 전체를 넣으면 비용과 노이즈가 증가합니다.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800100" y="6513271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근거(Needle)만 정확히 검색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800100" y="6756502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단위(Unit)의 최적화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330598" y="4724705"/>
            <a:ext cx="3534156" cy="2723998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330598" y="4724705"/>
            <a:ext cx="3534156" cy="38405"/>
          </a:xfrm>
          <a:prstGeom prst="roundRect">
            <a:avLst>
              <a:gd name="adj" fmla="val 266399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559198" y="4990795"/>
            <a:ext cx="457200" cy="45720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4645152" y="5105095"/>
            <a:ext cx="286207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559198" y="5600700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재귀적 분할 원리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4559198" y="5971946"/>
            <a:ext cx="31528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단순히 글자 수로 자르면 문장이 중간에 잘려 의미가 훼손됩니다. 의미 단위(문단→문장)를 최대한 유지하며 자릅니다.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4559198" y="6726326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구분자(\n\n)로 먼저 시도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4559198" y="6969557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크면 작은 구분자(\n)로 재귀적 진입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8089697" y="4724705"/>
            <a:ext cx="3534156" cy="2723998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089697" y="4724705"/>
            <a:ext cx="3534156" cy="38405"/>
          </a:xfrm>
          <a:prstGeom prst="roundRect">
            <a:avLst>
              <a:gd name="adj" fmla="val 266399"/>
            </a:avLst>
          </a:prstGeom>
          <a:solidFill>
            <a:srgbClr val="F9AB00"/>
          </a:solidFill>
          <a:ln w="12700">
            <a:solidFill>
              <a:srgbClr val="F9AB00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318297" y="4990795"/>
            <a:ext cx="457200" cy="457200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8404250" y="5105095"/>
            <a:ext cx="286207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318297" y="5600700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&amp; Overlap 전략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8318297" y="5971946"/>
            <a:ext cx="34390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크기와 겹침 설정이 검색 성능을 좌우합니다.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8318297" y="6300216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Size:</a:t>
            </a:r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작으면 문맥 부족, 크면 정밀도 하락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8318297" y="6542532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Overlap:</a:t>
            </a:r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경계선에서 문장 절단 방지 (필수)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9049817" y="6495898"/>
            <a:ext cx="33238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Generative AI Education Series | Data Preprocessing 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8830361" y="6524244"/>
            <a:ext cx="142646" cy="1143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2297887" y="2257654"/>
            <a:ext cx="1076249" cy="267005"/>
          </a:xfrm>
          <a:prstGeom prst="roundRect">
            <a:avLst>
              <a:gd name="adj" fmla="val 293542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2297887" y="2257654"/>
            <a:ext cx="11338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Document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2165299" y="2619756"/>
            <a:ext cx="1333195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 w="25400">
            <a:solidFill>
              <a:srgbClr val="BDC1C6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08" b="-408"/>
          <a:stretch/>
        </p:blipFill>
        <p:spPr>
          <a:xfrm>
            <a:off x="2327148" y="2976372"/>
            <a:ext cx="1009498" cy="38405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8" b="-408"/>
          <a:stretch/>
        </p:blipFill>
        <p:spPr>
          <a:xfrm>
            <a:off x="2327148" y="3053182"/>
            <a:ext cx="1009498" cy="38405"/>
          </a:xfrm>
          <a:prstGeom prst="rect">
            <a:avLst/>
          </a:prstGeom>
        </p:spPr>
      </p:pic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3" b="-433"/>
          <a:stretch/>
        </p:blipFill>
        <p:spPr>
          <a:xfrm>
            <a:off x="2327148" y="3129077"/>
            <a:ext cx="605333" cy="38405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2327148" y="3281782"/>
            <a:ext cx="1009498" cy="9144"/>
          </a:xfrm>
          <a:prstGeom prst="rect">
            <a:avLst/>
          </a:prstGeom>
          <a:solidFill>
            <a:srgbClr val="BDC1C6"/>
          </a:solidFill>
          <a:ln w="12700">
            <a:solidFill>
              <a:srgbClr val="BDC1C6">
                <a:alpha val="0"/>
              </a:srgbClr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08" b="-408"/>
          <a:stretch/>
        </p:blipFill>
        <p:spPr>
          <a:xfrm>
            <a:off x="2327148" y="3405226"/>
            <a:ext cx="1009498" cy="38405"/>
          </a:xfrm>
          <a:prstGeom prst="rect">
            <a:avLst/>
          </a:prstGeom>
        </p:spPr>
      </p:pic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08" b="-408"/>
          <a:stretch/>
        </p:blipFill>
        <p:spPr>
          <a:xfrm>
            <a:off x="2327148" y="3481121"/>
            <a:ext cx="1009498" cy="38405"/>
          </a:xfrm>
          <a:prstGeom prst="rect">
            <a:avLst/>
          </a:prstGeom>
        </p:spPr>
      </p:pic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3" b="-433"/>
          <a:stretch/>
        </p:blipFill>
        <p:spPr>
          <a:xfrm>
            <a:off x="2327148" y="3557930"/>
            <a:ext cx="605333" cy="38405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2484425" y="4028846"/>
            <a:ext cx="8513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원본 텍스트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5029200" y="2502713"/>
            <a:ext cx="1086307" cy="267005"/>
          </a:xfrm>
          <a:prstGeom prst="roundRect">
            <a:avLst>
              <a:gd name="adj" fmla="val 293542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46" name="Text 31"/>
          <p:cNvSpPr txBox="1"/>
          <p:nvPr/>
        </p:nvSpPr>
        <p:spPr>
          <a:xfrm>
            <a:off x="5029200" y="2502713"/>
            <a:ext cx="11430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Recursive Logic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4212641" y="2864815"/>
            <a:ext cx="2723998" cy="1095451"/>
          </a:xfrm>
          <a:prstGeom prst="roundRect">
            <a:avLst>
              <a:gd name="adj" fmla="val 1742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4316882" y="3016606"/>
            <a:ext cx="25164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Priority Splitter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4365346" y="3298241"/>
            <a:ext cx="828446" cy="276149"/>
          </a:xfrm>
          <a:prstGeom prst="roundRect">
            <a:avLst>
              <a:gd name="adj" fmla="val 137017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5"/>
          <p:cNvSpPr txBox="1"/>
          <p:nvPr/>
        </p:nvSpPr>
        <p:spPr>
          <a:xfrm>
            <a:off x="4336999" y="3298241"/>
            <a:ext cx="8860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\n\n (문단)</a:t>
            </a:r>
            <a:endParaRPr lang="en-US" sz="800" dirty="0"/>
          </a:p>
        </p:txBody>
      </p:sp>
      <p:sp>
        <p:nvSpPr>
          <p:cNvPr id="51" name="Shape 36"/>
          <p:cNvSpPr/>
          <p:nvPr/>
        </p:nvSpPr>
        <p:spPr>
          <a:xfrm>
            <a:off x="5267858" y="3298241"/>
            <a:ext cx="714146" cy="276149"/>
          </a:xfrm>
          <a:prstGeom prst="roundRect">
            <a:avLst>
              <a:gd name="adj" fmla="val 13701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5239512" y="3298241"/>
            <a:ext cx="7717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\n (문장)</a:t>
            </a:r>
            <a:endParaRPr lang="en-US" sz="800" dirty="0"/>
          </a:p>
        </p:txBody>
      </p:sp>
      <p:sp>
        <p:nvSpPr>
          <p:cNvPr id="53" name="Shape 38"/>
          <p:cNvSpPr/>
          <p:nvPr/>
        </p:nvSpPr>
        <p:spPr>
          <a:xfrm>
            <a:off x="6049670" y="3298241"/>
            <a:ext cx="733349" cy="276149"/>
          </a:xfrm>
          <a:prstGeom prst="roundRect">
            <a:avLst>
              <a:gd name="adj" fmla="val 13701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9"/>
          <p:cNvSpPr txBox="1"/>
          <p:nvPr/>
        </p:nvSpPr>
        <p:spPr>
          <a:xfrm>
            <a:off x="6021324" y="3298241"/>
            <a:ext cx="7909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" " (단어)</a:t>
            </a:r>
            <a:endParaRPr lang="en-US" sz="800" dirty="0"/>
          </a:p>
        </p:txBody>
      </p:sp>
      <p:sp>
        <p:nvSpPr>
          <p:cNvPr id="55" name="Text 40"/>
          <p:cNvSpPr txBox="1"/>
          <p:nvPr/>
        </p:nvSpPr>
        <p:spPr>
          <a:xfrm>
            <a:off x="4316882" y="3645713"/>
            <a:ext cx="25164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43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 Big? → Next Splitter</a:t>
            </a:r>
            <a:endParaRPr lang="en-US" sz="800" dirty="0"/>
          </a:p>
        </p:txBody>
      </p:sp>
      <p:sp>
        <p:nvSpPr>
          <p:cNvPr id="56" name="Shape 41"/>
          <p:cNvSpPr/>
          <p:nvPr/>
        </p:nvSpPr>
        <p:spPr>
          <a:xfrm>
            <a:off x="8077810" y="2447849"/>
            <a:ext cx="1524305" cy="267005"/>
          </a:xfrm>
          <a:prstGeom prst="roundRect">
            <a:avLst>
              <a:gd name="adj" fmla="val 293542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8077810" y="2447849"/>
            <a:ext cx="158557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Chunks + Overlap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8193938" y="3838651"/>
            <a:ext cx="158465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 유지를 위해 겹침 허용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7645298" y="2809951"/>
            <a:ext cx="11430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25400">
            <a:solidFill>
              <a:srgbClr val="34A853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7778801" y="3143707"/>
            <a:ext cx="875995" cy="9144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>
                <a:alpha val="0"/>
              </a:srgbClr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7778801" y="2943454"/>
            <a:ext cx="952805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7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1</a:t>
            </a:r>
            <a:endParaRPr lang="en-US" sz="80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18" b="-418"/>
          <a:stretch/>
        </p:blipFill>
        <p:spPr>
          <a:xfrm>
            <a:off x="7778801" y="3185770"/>
            <a:ext cx="875995" cy="38405"/>
          </a:xfrm>
          <a:prstGeom prst="rect">
            <a:avLst/>
          </a:prstGeom>
        </p:spPr>
      </p:pic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18" b="-418"/>
          <a:stretch/>
        </p:blipFill>
        <p:spPr>
          <a:xfrm>
            <a:off x="7778801" y="3262579"/>
            <a:ext cx="875995" cy="38405"/>
          </a:xfrm>
          <a:prstGeom prst="rect">
            <a:avLst/>
          </a:prstGeom>
        </p:spPr>
      </p:pic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389" b="-389"/>
          <a:stretch/>
        </p:blipFill>
        <p:spPr>
          <a:xfrm>
            <a:off x="7778801" y="3338474"/>
            <a:ext cx="525780" cy="38405"/>
          </a:xfrm>
          <a:prstGeom prst="rect">
            <a:avLst/>
          </a:prstGeom>
        </p:spPr>
      </p:pic>
      <p:pic>
        <p:nvPicPr>
          <p:cNvPr id="6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7" b="-17"/>
          <a:stretch/>
        </p:blipFill>
        <p:spPr>
          <a:xfrm>
            <a:off x="7778801" y="3514954"/>
            <a:ext cx="875995" cy="114300"/>
          </a:xfrm>
          <a:prstGeom prst="rect">
            <a:avLst/>
          </a:prstGeom>
        </p:spPr>
      </p:pic>
      <p:sp>
        <p:nvSpPr>
          <p:cNvPr id="66" name="Shape 47"/>
          <p:cNvSpPr/>
          <p:nvPr/>
        </p:nvSpPr>
        <p:spPr>
          <a:xfrm>
            <a:off x="8883396" y="2809951"/>
            <a:ext cx="11430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25400">
            <a:solidFill>
              <a:srgbClr val="34A853"/>
            </a:solidFill>
            <a:prstDash val="solid"/>
          </a:ln>
        </p:spPr>
      </p:sp>
      <p:sp>
        <p:nvSpPr>
          <p:cNvPr id="67" name="Shape 48"/>
          <p:cNvSpPr/>
          <p:nvPr/>
        </p:nvSpPr>
        <p:spPr>
          <a:xfrm>
            <a:off x="9016898" y="3143707"/>
            <a:ext cx="875995" cy="9144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>
                <a:alpha val="0"/>
              </a:srgbClr>
            </a:solidFill>
            <a:prstDash val="solid"/>
          </a:ln>
        </p:spPr>
      </p:sp>
      <p:sp>
        <p:nvSpPr>
          <p:cNvPr id="68" name="Text 49"/>
          <p:cNvSpPr txBox="1"/>
          <p:nvPr/>
        </p:nvSpPr>
        <p:spPr>
          <a:xfrm>
            <a:off x="9016898" y="2943454"/>
            <a:ext cx="952805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7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2</a:t>
            </a:r>
            <a:endParaRPr lang="en-US" sz="800" dirty="0"/>
          </a:p>
        </p:txBody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7" b="-17"/>
          <a:stretch/>
        </p:blipFill>
        <p:spPr>
          <a:xfrm>
            <a:off x="9016898" y="3185770"/>
            <a:ext cx="875995" cy="114300"/>
          </a:xfrm>
          <a:prstGeom prst="rect">
            <a:avLst/>
          </a:prstGeom>
        </p:spPr>
      </p:pic>
      <p:pic>
        <p:nvPicPr>
          <p:cNvPr id="70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418" b="-418"/>
          <a:stretch/>
        </p:blipFill>
        <p:spPr>
          <a:xfrm>
            <a:off x="9016898" y="3338474"/>
            <a:ext cx="875995" cy="38405"/>
          </a:xfrm>
          <a:prstGeom prst="rect">
            <a:avLst/>
          </a:prstGeom>
        </p:spPr>
      </p:pic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389" b="-389"/>
          <a:stretch/>
        </p:blipFill>
        <p:spPr>
          <a:xfrm>
            <a:off x="9016898" y="3414370"/>
            <a:ext cx="525780" cy="38405"/>
          </a:xfrm>
          <a:prstGeom prst="rect">
            <a:avLst/>
          </a:prstGeom>
        </p:spPr>
      </p:pic>
      <p:sp>
        <p:nvSpPr>
          <p:cNvPr id="72" name="Shape 50"/>
          <p:cNvSpPr/>
          <p:nvPr/>
        </p:nvSpPr>
        <p:spPr>
          <a:xfrm>
            <a:off x="9715500" y="3072384"/>
            <a:ext cx="485546" cy="200254"/>
          </a:xfrm>
          <a:prstGeom prst="roundRect">
            <a:avLst>
              <a:gd name="adj" fmla="val 173951"/>
            </a:avLst>
          </a:prstGeom>
          <a:solidFill>
            <a:srgbClr val="FCE8E6"/>
          </a:solidFill>
          <a:ln w="12700">
            <a:solidFill>
              <a:srgbClr val="FAD2CF"/>
            </a:solidFill>
            <a:prstDash val="solid"/>
          </a:ln>
        </p:spPr>
      </p:sp>
      <p:sp>
        <p:nvSpPr>
          <p:cNvPr id="73" name="Text 51"/>
          <p:cNvSpPr txBox="1"/>
          <p:nvPr/>
        </p:nvSpPr>
        <p:spPr>
          <a:xfrm>
            <a:off x="9715500" y="3072384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A43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</a:t>
            </a:r>
            <a:endParaRPr lang="en-US" sz="800" dirty="0"/>
          </a:p>
        </p:txBody>
      </p:sp>
      <p:sp>
        <p:nvSpPr>
          <p:cNvPr id="74" name="Text 52"/>
          <p:cNvSpPr txBox="1"/>
          <p:nvPr/>
        </p:nvSpPr>
        <p:spPr>
          <a:xfrm>
            <a:off x="571500" y="847649"/>
            <a:ext cx="11239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청킹 전략: RecursiveCharacterTextSplitter</a:t>
            </a:r>
            <a:endParaRPr lang="en-US" sz="3000" dirty="0"/>
          </a:p>
        </p:txBody>
      </p:sp>
      <p:sp>
        <p:nvSpPr>
          <p:cNvPr id="75" name="Text 53"/>
          <p:cNvSpPr txBox="1"/>
          <p:nvPr/>
        </p:nvSpPr>
        <p:spPr>
          <a:xfrm>
            <a:off x="571500" y="1419149"/>
            <a:ext cx="8763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컨텍스트 제한을 극복하고, 검색 정확도를 높이기 위한 문서 분할(Chunking) 핵심 메커니즘</a:t>
            </a:r>
            <a:endParaRPr lang="en-US" sz="1300" dirty="0"/>
          </a:p>
        </p:txBody>
      </p:sp>
      <p:sp>
        <p:nvSpPr>
          <p:cNvPr id="76" name="Shape 54"/>
          <p:cNvSpPr/>
          <p:nvPr/>
        </p:nvSpPr>
        <p:spPr>
          <a:xfrm>
            <a:off x="571500" y="381305"/>
            <a:ext cx="2229307" cy="314554"/>
          </a:xfrm>
          <a:prstGeom prst="roundRect">
            <a:avLst>
              <a:gd name="adj" fmla="val 290697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55"/>
          <p:cNvSpPr/>
          <p:nvPr/>
        </p:nvSpPr>
        <p:spPr>
          <a:xfrm>
            <a:off x="533095" y="381305"/>
            <a:ext cx="23052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spc="38" kern="0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Preprocessing Strategy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052560" y="6495898"/>
            <a:ext cx="33238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Generative AI Education Series | Retrieval Strategies 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833104" y="6524244"/>
            <a:ext cx="142646" cy="1143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771754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전략: FAISS, BM25, Ensemble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362456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벡터 검색의 한계를 보완하고, 키워드 매칭의 정밀함을 더하는 하이브리드 전략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71500" y="381305"/>
            <a:ext cx="1733702" cy="276149"/>
          </a:xfrm>
          <a:prstGeom prst="roundRect">
            <a:avLst>
              <a:gd name="adj" fmla="val 331126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6753" y="381305"/>
            <a:ext cx="180319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1000" b="1" spc="38" kern="0" dirty="0">
                <a:solidFill>
                  <a:srgbClr val="7B1F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Strategy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571500" y="1876349"/>
            <a:ext cx="3530498" cy="47045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1500" y="1933956"/>
            <a:ext cx="3534156" cy="1514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571500" y="3439058"/>
            <a:ext cx="35341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0100" y="216255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3602" y="2295144"/>
            <a:ext cx="190195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0100" y="2771546"/>
            <a:ext cx="3191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FAISS (Vector)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00100" y="3095244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벡터 검색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800100" y="3633826"/>
            <a:ext cx="3076956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14400" y="3748126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원리: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문장을 임베딩 벡터로 변환, 벡터 간 거리(Cosine Similarity)로 의미적 유사성 판단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" y="4414723"/>
            <a:ext cx="30294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표현이 달라도 의미가 통하면 검색 가능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(예: 매출 감소 ≈ 실적 하락)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0100" y="4443070"/>
            <a:ext cx="123444" cy="1234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3544" y="4841748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숫자, 고유명사, 약어 매칭에 취약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0100" y="4870094"/>
            <a:ext cx="123444" cy="1234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3544" y="5094122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유사하지만 오답인 내용이 상위에 뜰 위험</a:t>
            </a:r>
            <a:endParaRPr lang="en-US" sz="9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0100" y="5123383"/>
            <a:ext cx="123444" cy="12344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0100" y="5461711"/>
            <a:ext cx="3076956" cy="895198"/>
          </a:xfrm>
          <a:prstGeom prst="roundRect">
            <a:avLst>
              <a:gd name="adj" fmla="val 26080"/>
            </a:avLst>
          </a:prstGeom>
          <a:solidFill>
            <a:srgbClr val="F3E5F5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1120140" y="5461711"/>
            <a:ext cx="2832811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pPr algn="l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 파악이 중요한 일반 질의, 동의어가 많은 자연어 질문 처리 시 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120140" y="5623560"/>
            <a:ext cx="2785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6A1B9A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endParaRPr lang="en-US" sz="8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rcRect l="-2174" r="-2174" t="0" b="0"/>
          <a:stretch/>
        </p:blipFill>
        <p:spPr>
          <a:xfrm>
            <a:off x="961949" y="5656478"/>
            <a:ext cx="123444" cy="105156"/>
          </a:xfrm>
          <a:prstGeom prst="rect">
            <a:avLst/>
          </a:prstGeom>
        </p:spPr>
      </p:pic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330598" y="1876349"/>
            <a:ext cx="3530498" cy="4704588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4330598" y="1933956"/>
            <a:ext cx="3534156" cy="1514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1"/>
          <p:cNvSpPr/>
          <p:nvPr/>
        </p:nvSpPr>
        <p:spPr>
          <a:xfrm>
            <a:off x="4330598" y="3439058"/>
            <a:ext cx="35341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4559198" y="216255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-1648" r="-1648" t="0" b="0"/>
          <a:stretch/>
        </p:blipFill>
        <p:spPr>
          <a:xfrm>
            <a:off x="4701845" y="2295144"/>
            <a:ext cx="171907" cy="19019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4559198" y="2771546"/>
            <a:ext cx="3191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 (Keyword)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4559198" y="3095244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빈도 기반 검색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4559198" y="3633826"/>
            <a:ext cx="3076956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4673498" y="3748126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원리: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TF-IDF의 개선판. 희귀 단어가 포함될수록, 단어 빈도가 높을수록 높은 점수 부여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4682642" y="4414723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고유명사, 약어(YoY), 특정 숫자(4.13%)에 강함</a:t>
            </a:r>
            <a:endParaRPr lang="en-US" sz="9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559198" y="4443070"/>
            <a:ext cx="123444" cy="123444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682642" y="4668012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직관적이고 설명 가능한 검색 결과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559198" y="4696358"/>
            <a:ext cx="123444" cy="123444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4682642" y="4921301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 형태가 조금만 달라도 놓침 (Recall 저하)</a:t>
            </a:r>
            <a:endParaRPr lang="en-US" sz="9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559198" y="4949647"/>
            <a:ext cx="123444" cy="123444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4559198" y="5461711"/>
            <a:ext cx="3076956" cy="895198"/>
          </a:xfrm>
          <a:prstGeom prst="roundRect">
            <a:avLst>
              <a:gd name="adj" fmla="val 26080"/>
            </a:avLst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46" name="Text 31"/>
          <p:cNvSpPr txBox="1"/>
          <p:nvPr/>
        </p:nvSpPr>
        <p:spPr>
          <a:xfrm>
            <a:off x="4879238" y="5461711"/>
            <a:ext cx="2832811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6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pPr algn="l" indent="0" marL="0">
              <a:buNone/>
            </a:pPr>
            <a:r>
              <a:rPr lang="en-US" sz="900" dirty="0">
                <a:solidFill>
                  <a:srgbClr val="EF6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특정 코드, 제품명, 정확한 수치가 포함된 정밀 검색이 필요할 때 </a:t>
            </a:r>
            <a:endParaRPr lang="en-US" sz="900" dirty="0"/>
          </a:p>
        </p:txBody>
      </p:sp>
      <p:sp>
        <p:nvSpPr>
          <p:cNvPr id="47" name="Text 32"/>
          <p:cNvSpPr txBox="1"/>
          <p:nvPr/>
        </p:nvSpPr>
        <p:spPr>
          <a:xfrm>
            <a:off x="4879238" y="5623560"/>
            <a:ext cx="2785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EF6C00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endParaRPr lang="en-US" sz="8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>
            <a:alphaModFix amt="80000"/>
          </a:blip>
          <a:srcRect l="-2174" r="-2174" t="0" b="0"/>
          <a:stretch/>
        </p:blipFill>
        <p:spPr>
          <a:xfrm>
            <a:off x="4721047" y="5656478"/>
            <a:ext cx="123444" cy="105156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089697" y="1876349"/>
            <a:ext cx="3530498" cy="4704588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8089697" y="1933956"/>
            <a:ext cx="3534156" cy="1514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34"/>
          <p:cNvSpPr/>
          <p:nvPr/>
        </p:nvSpPr>
        <p:spPr>
          <a:xfrm>
            <a:off x="8089697" y="3439058"/>
            <a:ext cx="35341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52" name="Shape 35"/>
          <p:cNvSpPr/>
          <p:nvPr/>
        </p:nvSpPr>
        <p:spPr>
          <a:xfrm>
            <a:off x="8318297" y="216255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rcRect l="-1282" r="-1282" t="0" b="0"/>
          <a:stretch/>
        </p:blipFill>
        <p:spPr>
          <a:xfrm>
            <a:off x="8437169" y="2295144"/>
            <a:ext cx="219456" cy="190195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318297" y="2771546"/>
            <a:ext cx="3191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 (Hybrid)</a:t>
            </a:r>
            <a:endParaRPr lang="en-US" sz="1500" dirty="0"/>
          </a:p>
        </p:txBody>
      </p:sp>
      <p:sp>
        <p:nvSpPr>
          <p:cNvPr id="55" name="Text 37"/>
          <p:cNvSpPr txBox="1"/>
          <p:nvPr/>
        </p:nvSpPr>
        <p:spPr>
          <a:xfrm>
            <a:off x="8318297" y="3095244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+ 키워드 결합</a:t>
            </a:r>
            <a:endParaRPr lang="en-US" sz="900" dirty="0"/>
          </a:p>
        </p:txBody>
      </p:sp>
      <p:sp>
        <p:nvSpPr>
          <p:cNvPr id="56" name="Shape 38"/>
          <p:cNvSpPr/>
          <p:nvPr/>
        </p:nvSpPr>
        <p:spPr>
          <a:xfrm>
            <a:off x="8318297" y="3633826"/>
            <a:ext cx="3076956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39"/>
          <p:cNvSpPr txBox="1"/>
          <p:nvPr/>
        </p:nvSpPr>
        <p:spPr>
          <a:xfrm>
            <a:off x="8432597" y="3748126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원리: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FAISS와 BM25의 결과를 RRF(순위 기반 결합) 등으로 섞어 상호 보완</a:t>
            </a:r>
            <a:endParaRPr lang="en-US" sz="1000" dirty="0"/>
          </a:p>
        </p:txBody>
      </p:sp>
      <p:sp>
        <p:nvSpPr>
          <p:cNvPr id="58" name="Text 40"/>
          <p:cNvSpPr txBox="1"/>
          <p:nvPr/>
        </p:nvSpPr>
        <p:spPr>
          <a:xfrm>
            <a:off x="8441741" y="4414723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Recall(재현율) 극대화: 정답 포함 확률 상승</a:t>
            </a:r>
            <a:endParaRPr lang="en-US" sz="9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318297" y="4443070"/>
            <a:ext cx="123444" cy="123444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8441741" y="4668012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의미와 키워드 양쪽의 강점을 모두 활용</a:t>
            </a:r>
            <a:endParaRPr lang="en-US" sz="9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8318297" y="4696358"/>
            <a:ext cx="123444" cy="123444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8441741" y="4921301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복잡도 증가 및 튜닝(가중치) 필요</a:t>
            </a:r>
            <a:endParaRPr lang="en-US" sz="900" dirty="0"/>
          </a:p>
        </p:txBody>
      </p:sp>
      <p:pic>
        <p:nvPicPr>
          <p:cNvPr id="6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8318297" y="4949647"/>
            <a:ext cx="123444" cy="123444"/>
          </a:xfrm>
          <a:prstGeom prst="rect">
            <a:avLst/>
          </a:prstGeom>
        </p:spPr>
      </p:pic>
      <p:sp>
        <p:nvSpPr>
          <p:cNvPr id="64" name="Shape 43"/>
          <p:cNvSpPr/>
          <p:nvPr/>
        </p:nvSpPr>
        <p:spPr>
          <a:xfrm>
            <a:off x="8318297" y="5461711"/>
            <a:ext cx="3076956" cy="895198"/>
          </a:xfrm>
          <a:prstGeom prst="roundRect">
            <a:avLst>
              <a:gd name="adj" fmla="val 26080"/>
            </a:avLst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65" name="Text 44"/>
          <p:cNvSpPr txBox="1"/>
          <p:nvPr/>
        </p:nvSpPr>
        <p:spPr>
          <a:xfrm>
            <a:off x="8638337" y="5461711"/>
            <a:ext cx="2832811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pPr algn="l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[실무 권장]</a:t>
            </a:r>
            <a:pPr algn="l" indent="0" marL="0">
              <a:buNone/>
            </a:pPr>
            <a:r>
              <a:rPr lang="en-US" sz="900" dirty="0">
                <a:solidFill>
                  <a:srgbClr val="0069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실패 없는 RAG를 위한 표준 전략. Recall 확보 후 리랭킹으로 정제 </a:t>
            </a:r>
            <a:endParaRPr lang="en-US" sz="900" dirty="0"/>
          </a:p>
        </p:txBody>
      </p:sp>
      <p:sp>
        <p:nvSpPr>
          <p:cNvPr id="66" name="Text 45"/>
          <p:cNvSpPr txBox="1"/>
          <p:nvPr/>
        </p:nvSpPr>
        <p:spPr>
          <a:xfrm>
            <a:off x="8638337" y="5623560"/>
            <a:ext cx="2785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8" kern="0" dirty="0">
                <a:solidFill>
                  <a:srgbClr val="00695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</a:t>
            </a:r>
            <a:endParaRPr lang="en-US" sz="800" dirty="0"/>
          </a:p>
        </p:txBody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>
            <a:alphaModFix amt="80000"/>
          </a:blip>
          <a:srcRect l="-2174" r="-2174" t="0" b="0"/>
          <a:stretch/>
        </p:blipFill>
        <p:spPr>
          <a:xfrm>
            <a:off x="8480146" y="5656478"/>
            <a:ext cx="123444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621231"/>
            <a:ext cx="11048695" cy="2295144"/>
          </a:xfrm>
          <a:prstGeom prst="roundRect">
            <a:avLst>
              <a:gd name="adj" fmla="val 661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1773936"/>
            <a:ext cx="2005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Multi-Query Expansion Flow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771754" y="1806854"/>
            <a:ext cx="152705" cy="1335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9744" y="2197303"/>
            <a:ext cx="190195" cy="1143000"/>
          </a:xfrm>
          <a:prstGeom prst="rect">
            <a:avLst/>
          </a:prstGeom>
          <a:noFill/>
          <a:ln w="25400">
            <a:solidFill>
              <a:srgbClr val="BDC1C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4" b="-454"/>
          <a:stretch/>
        </p:blipFill>
        <p:spPr>
          <a:xfrm>
            <a:off x="4999939" y="2090318"/>
            <a:ext cx="1533449" cy="3621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62042" y="2090318"/>
            <a:ext cx="123352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 감소 요인" 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61788" y="2207362"/>
            <a:ext cx="123444" cy="12344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4" b="-454"/>
          <a:stretch/>
        </p:blipFill>
        <p:spPr>
          <a:xfrm>
            <a:off x="4999939" y="2590495"/>
            <a:ext cx="1533449" cy="3621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362042" y="2590495"/>
            <a:ext cx="123352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"비용 증가 내역" 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61788" y="2706624"/>
            <a:ext cx="123444" cy="123444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4" b="-454"/>
          <a:stretch/>
        </p:blipFill>
        <p:spPr>
          <a:xfrm>
            <a:off x="4999939" y="3090672"/>
            <a:ext cx="1533449" cy="36210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362042" y="3090672"/>
            <a:ext cx="123352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"수익성 악화 이유" </a:t>
            </a:r>
            <a:endParaRPr lang="en-US" sz="9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61788" y="3206801"/>
            <a:ext cx="123444" cy="123444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7097573" y="2221078"/>
            <a:ext cx="2095805" cy="1095451"/>
          </a:xfrm>
          <a:prstGeom prst="roundRect">
            <a:avLst>
              <a:gd name="adj" fmla="val 23227"/>
            </a:avLst>
          </a:prstGeom>
          <a:solidFill>
            <a:srgbClr val="E8F0FE"/>
          </a:solidFill>
          <a:ln w="25400">
            <a:solidFill>
              <a:srgbClr val="1A73E8"/>
            </a:solidFill>
            <a:prstDash val="solid"/>
          </a:ln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5" b="-45"/>
          <a:stretch/>
        </p:blipFill>
        <p:spPr>
          <a:xfrm>
            <a:off x="8016545" y="2449678"/>
            <a:ext cx="256946" cy="2286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514539" y="2773375"/>
            <a:ext cx="15078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4E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Unified Context Pool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7355434" y="2997403"/>
            <a:ext cx="18818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967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관점의 문서 확보 (Recall ↑)</a:t>
            </a:r>
            <a:endParaRPr lang="en-US" sz="800" dirty="0"/>
          </a:p>
        </p:txBody>
      </p:sp>
      <p:sp>
        <p:nvSpPr>
          <p:cNvPr id="21" name="Shape 11"/>
          <p:cNvSpPr/>
          <p:nvPr/>
        </p:nvSpPr>
        <p:spPr>
          <a:xfrm>
            <a:off x="571500" y="4107485"/>
            <a:ext cx="5410505" cy="379110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2"/>
          <p:cNvSpPr/>
          <p:nvPr/>
        </p:nvSpPr>
        <p:spPr>
          <a:xfrm>
            <a:off x="571500" y="4107485"/>
            <a:ext cx="5410505" cy="47549"/>
          </a:xfrm>
          <a:prstGeom prst="roundRect">
            <a:avLst>
              <a:gd name="adj" fmla="val 193273"/>
            </a:avLst>
          </a:prstGeom>
          <a:solidFill>
            <a:srgbClr val="FBBC04"/>
          </a:solidFill>
          <a:ln w="12700">
            <a:solidFill>
              <a:srgbClr val="FBBC04">
                <a:alpha val="0"/>
              </a:srgbClr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800100" y="4879238"/>
            <a:ext cx="4953305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800100" y="438363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7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05256" y="4487875"/>
            <a:ext cx="171907" cy="171907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295705" y="4444898"/>
            <a:ext cx="164409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Multi-Query 전략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958291" y="5041087"/>
            <a:ext cx="49094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장점 (Why Use?)</a:t>
            </a:r>
            <a:endParaRPr lang="en-US" sz="9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00100" y="5074920"/>
            <a:ext cx="123444" cy="123444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00100" y="5283403"/>
            <a:ext cx="4953305" cy="590702"/>
          </a:xfrm>
          <a:prstGeom prst="roundRect">
            <a:avLst>
              <a:gd name="adj" fmla="val 39948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18"/>
          <p:cNvSpPr txBox="1"/>
          <p:nvPr/>
        </p:nvSpPr>
        <p:spPr>
          <a:xfrm>
            <a:off x="800100" y="5283403"/>
            <a:ext cx="502920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미스매치(Mismatch) 해결. 사용자가 "리스크"라고 물어도 문서의 "불확실성", "위험 요인" 등을 함께 찾아냄.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958291" y="6131052"/>
            <a:ext cx="49094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43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주의사항 (Risks)</a:t>
            </a:r>
            <a:endParaRPr lang="en-US" sz="9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0100" y="6165799"/>
            <a:ext cx="123444" cy="123444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800100" y="6374282"/>
            <a:ext cx="4953305" cy="590702"/>
          </a:xfrm>
          <a:prstGeom prst="roundRect">
            <a:avLst>
              <a:gd name="adj" fmla="val 39948"/>
            </a:avLst>
          </a:prstGeom>
          <a:solidFill>
            <a:srgbClr val="FCE8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800100" y="6374282"/>
            <a:ext cx="502920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질의가 많아지면 </a:t>
            </a:r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노이즈(엉뚱한 문서)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비례해서 증가함. 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반드시 </a:t>
            </a:r>
            <a:pPr algn="l" indent="0" marL="0">
              <a:buNone/>
            </a:pPr>
            <a:r>
              <a:rPr lang="en-US" sz="1000" b="1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Reranker</a:t>
            </a:r>
            <a:pPr algn="l" indent="0" marL="0">
              <a:buNone/>
            </a:pPr>
            <a:r>
              <a:rPr lang="en-US" sz="1000" dirty="0">
                <a:solidFill>
                  <a:srgbClr val="3C4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함께 사용하여 정제해야 함. </a:t>
            </a:r>
            <a:endParaRPr lang="en-US" sz="1000" dirty="0"/>
          </a:p>
        </p:txBody>
      </p:sp>
      <p:sp>
        <p:nvSpPr>
          <p:cNvPr id="35" name="Shape 22"/>
          <p:cNvSpPr/>
          <p:nvPr/>
        </p:nvSpPr>
        <p:spPr>
          <a:xfrm>
            <a:off x="6210605" y="4107485"/>
            <a:ext cx="5410505" cy="379110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36" name="Shape 23"/>
          <p:cNvSpPr/>
          <p:nvPr/>
        </p:nvSpPr>
        <p:spPr>
          <a:xfrm>
            <a:off x="6210605" y="4107485"/>
            <a:ext cx="5410505" cy="47549"/>
          </a:xfrm>
          <a:prstGeom prst="roundRect">
            <a:avLst>
              <a:gd name="adj" fmla="val 193273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6439205" y="4879238"/>
            <a:ext cx="4953305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6439205" y="438363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43446" y="4487875"/>
            <a:ext cx="171907" cy="171907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6933895" y="4444898"/>
            <a:ext cx="2324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Reranking (Bi vs Cross)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39205" y="5116982"/>
          <a:ext cx="4953305" cy="1877263"/>
        </p:xfrm>
        <a:graphic>
          <a:graphicData uri="http://schemas.openxmlformats.org/drawingml/2006/table">
            <a:tbl>
              <a:tblPr/>
              <a:tblGrid>
                <a:gridCol w="713232"/>
                <a:gridCol w="2328062"/>
                <a:gridCol w="1912010"/>
              </a:tblGrid>
              <a:tr h="375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Bi-Encoder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Cross-Encoder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4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1차 검색 (Retrieval)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2차 정렬 (Reranking)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4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방식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벡터 유사도 (Approximate)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질문-문서 쌍 직접 채점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4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속도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37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Fast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미리 임베딩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C52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Slow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실시간 연산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4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5F63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정확도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문맥 파악 한계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967D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0212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정밀 판별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Shape 27"/>
          <p:cNvSpPr/>
          <p:nvPr/>
        </p:nvSpPr>
        <p:spPr>
          <a:xfrm>
            <a:off x="6439205" y="7135978"/>
            <a:ext cx="4953305" cy="533095"/>
          </a:xfrm>
          <a:prstGeom prst="roundRect">
            <a:avLst>
              <a:gd name="adj" fmla="val 49008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8"/>
          <p:cNvSpPr txBox="1"/>
          <p:nvPr/>
        </p:nvSpPr>
        <p:spPr>
          <a:xfrm>
            <a:off x="6439205" y="7135978"/>
            <a:ext cx="5029200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Top-K(50개)를 Bi-Encoder로 가져오고, Cross-Encoder로 Top-N(5개)만 남겨 LLM에 전달하는 파이프라인이 표준. 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9058961" y="6495898"/>
            <a:ext cx="33128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Generative AI Education Series | Advanced Retrieval </a:t>
            </a:r>
            <a:endParaRPr lang="en-US" sz="9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0" b="-80"/>
          <a:stretch/>
        </p:blipFill>
        <p:spPr>
          <a:xfrm>
            <a:off x="8839505" y="6524244"/>
            <a:ext cx="142646" cy="114300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3000146" y="2437790"/>
            <a:ext cx="1714500" cy="666598"/>
          </a:xfrm>
          <a:prstGeom prst="roundRect">
            <a:avLst>
              <a:gd name="adj" fmla="val 47031"/>
            </a:avLst>
          </a:prstGeom>
          <a:solidFill>
            <a:srgbClr val="FFFFFF"/>
          </a:solidFill>
          <a:ln w="25400">
            <a:solidFill>
              <a:srgbClr val="5F636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5000"/>
              </a:srgbClr>
            </a:outerShdw>
          </a:effectLst>
        </p:spPr>
      </p:sp>
      <p:sp>
        <p:nvSpPr>
          <p:cNvPr id="47" name="Text 31"/>
          <p:cNvSpPr txBox="1"/>
          <p:nvPr/>
        </p:nvSpPr>
        <p:spPr>
          <a:xfrm>
            <a:off x="3157423" y="2571293"/>
            <a:ext cx="13990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"실적 부진 원인?"</a:t>
            </a:r>
            <a:endParaRPr lang="en-US" sz="1000" dirty="0"/>
          </a:p>
        </p:txBody>
      </p:sp>
      <p:sp>
        <p:nvSpPr>
          <p:cNvPr id="48" name="Text 32"/>
          <p:cNvSpPr txBox="1"/>
          <p:nvPr/>
        </p:nvSpPr>
        <p:spPr>
          <a:xfrm>
            <a:off x="3171139" y="2809037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Query</a:t>
            </a:r>
            <a:endParaRPr lang="en-US" sz="8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80" b="-180"/>
          <a:stretch/>
        </p:blipFill>
        <p:spPr>
          <a:xfrm>
            <a:off x="4809744" y="2702052"/>
            <a:ext cx="95098" cy="152705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571500" y="714146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Multi-Query Retrieval 및 리랭킹</a:t>
            </a:r>
            <a:endParaRPr lang="en-US" sz="2700" dirty="0"/>
          </a:p>
        </p:txBody>
      </p:sp>
      <p:sp>
        <p:nvSpPr>
          <p:cNvPr id="51" name="Text 34"/>
          <p:cNvSpPr txBox="1"/>
          <p:nvPr/>
        </p:nvSpPr>
        <p:spPr>
          <a:xfrm>
            <a:off x="571500" y="1202436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확장하여 정답 확률(Recall)을 높이고, 리랭킹으로 정확도(Precision)를 정제하는 2단계 전략</a:t>
            </a:r>
            <a:endParaRPr lang="en-US" sz="1200" dirty="0"/>
          </a:p>
        </p:txBody>
      </p:sp>
      <p:sp>
        <p:nvSpPr>
          <p:cNvPr id="52" name="Shape 35"/>
          <p:cNvSpPr/>
          <p:nvPr/>
        </p:nvSpPr>
        <p:spPr>
          <a:xfrm>
            <a:off x="571500" y="286207"/>
            <a:ext cx="1923898" cy="314554"/>
          </a:xfrm>
          <a:prstGeom prst="roundRect">
            <a:avLst>
              <a:gd name="adj" fmla="val 290697"/>
            </a:avLst>
          </a:prstGeom>
          <a:solidFill>
            <a:srgbClr val="FCE8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533095" y="286207"/>
            <a:ext cx="2000707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spc="38" kern="0" dirty="0">
                <a:solidFill>
                  <a:srgbClr val="EA43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35770" y="6495898"/>
            <a:ext cx="32250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Generative AI Education Series | Final Architecture 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8916314" y="6524244"/>
            <a:ext cx="142646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714146"/>
            <a:ext cx="113541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아키텍처 요약 및 권장 설정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1202436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환각을 최소화하고 운영 효율을 높이는 End-to-End RAG 파이프라인 구축 가이드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286207"/>
            <a:ext cx="1476756" cy="314554"/>
          </a:xfrm>
          <a:prstGeom prst="roundRect">
            <a:avLst>
              <a:gd name="adj" fmla="val 290697"/>
            </a:avLst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239" y="286207"/>
            <a:ext cx="153619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spc="38" kern="0" dirty="0">
                <a:solidFill>
                  <a:srgbClr val="137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" y="3273552"/>
            <a:ext cx="3534156" cy="3305556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" y="3273552"/>
            <a:ext cx="3534156" cy="47549"/>
          </a:xfrm>
          <a:prstGeom prst="roundRect">
            <a:avLst>
              <a:gd name="adj" fmla="val 177344"/>
            </a:avLst>
          </a:prstGeom>
          <a:solidFill>
            <a:srgbClr val="1A73E8"/>
          </a:solidFill>
          <a:ln w="12700">
            <a:solidFill>
              <a:srgbClr val="1A73E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0100" y="4036162"/>
            <a:ext cx="30769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" y="354970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905256" y="3644798"/>
            <a:ext cx="133502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57300" y="3592678"/>
            <a:ext cx="2048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파이프라인 전략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0100" y="4264762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9498" y="4235501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방식 선택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 위주면 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PyMuPDF4LLM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표/차트가 정답의 핵심이면 비용 감수하고 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사용. 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" y="4935931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9498" y="4907585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청킹 최적화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문단 단위 유지 권장. 표(Table)는 쪼개지 말고 별도 메타데이터로 관리하거나 HTML로 변환 보존. 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0100" y="5607101"/>
            <a:ext cx="114300" cy="1143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9498" y="5578754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 필수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 절단 방지를 위해 10~20% 중첩 설정 (예: 500자 청크, 100자 오버랩). 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330598" y="3273552"/>
            <a:ext cx="3534156" cy="3305556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330598" y="3273552"/>
            <a:ext cx="3534156" cy="47549"/>
          </a:xfrm>
          <a:prstGeom prst="roundRect">
            <a:avLst>
              <a:gd name="adj" fmla="val 177344"/>
            </a:avLst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59198" y="4036162"/>
            <a:ext cx="30769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59198" y="354970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CE8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54296" y="3644798"/>
            <a:ext cx="152705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016398" y="3592678"/>
            <a:ext cx="16824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정확도 최적화</a:t>
            </a:r>
            <a:endParaRPr lang="en-US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59198" y="4264762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68596" y="4235501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Search (Ensemble)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FAISS(의미)만 믿지 말고 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BM25(키워드)</a:t>
            </a:r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섞어 고유명사와 숫자를 방어. (RRF 결합 추천) 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59198" y="4935931"/>
            <a:ext cx="114300" cy="1143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68596" y="4907585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Reranking 도입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1차 검색에서 Top-50을 넓게 가져오고, Cross-Encoder로 정밀 채점하여 Top-5만 LLM에 주입. 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9198" y="5607101"/>
            <a:ext cx="114300" cy="1143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68596" y="5578754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Expansion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질문이 짧거나 모호하면 Multi-Query로 확장하되, 노이즈 증가 대비 리랭커 필수. 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8089697" y="3273552"/>
            <a:ext cx="3534156" cy="3305556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8089697" y="3273552"/>
            <a:ext cx="3534156" cy="47549"/>
          </a:xfrm>
          <a:prstGeom prst="roundRect">
            <a:avLst>
              <a:gd name="adj" fmla="val 177344"/>
            </a:avLst>
          </a:prstGeom>
          <a:solidFill>
            <a:srgbClr val="FBBC04"/>
          </a:solidFill>
          <a:ln w="12700">
            <a:solidFill>
              <a:srgbClr val="FBBC04">
                <a:alpha val="0"/>
              </a:srgbClr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8318297" y="4036162"/>
            <a:ext cx="3076956" cy="9144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8318297" y="354970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EF7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413394" y="3644798"/>
            <a:ext cx="152705" cy="1527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775497" y="3592678"/>
            <a:ext cx="16824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및 체크리스트</a:t>
            </a:r>
            <a:endParaRPr lang="en-US" sz="13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18297" y="4264762"/>
            <a:ext cx="114300" cy="1143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8527694" y="4235501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Citation (출처 표기)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 끝에 "근거: [문서명, p.12]"를 붙이도록 프롬프트 지시. 신뢰도 상승의 핵심. </a:t>
            </a:r>
            <a:endParaRPr lang="en-US" sz="9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18297" y="4935931"/>
            <a:ext cx="114300" cy="1143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8527694" y="4907585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로그 분석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"모르겠습니다" 답변이나 사용자 불만족 질문을 수집하여 지식 베이스(문서) 보강. </a:t>
            </a:r>
            <a:endParaRPr lang="en-US" sz="9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318297" y="5607101"/>
            <a:ext cx="114300" cy="11430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527694" y="5578754"/>
            <a:ext cx="29434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 인덱스 갱신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B4F5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변경 시 벡터 DB 업데이트 파이프라인 자동화 (Stale Data 방지). 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571500" y="1621231"/>
            <a:ext cx="11048695" cy="1466698"/>
          </a:xfrm>
          <a:prstGeom prst="roundRect">
            <a:avLst>
              <a:gd name="adj" fmla="val 1295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"/>
              </a:srgbClr>
            </a:outerShdw>
          </a:effectLst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399" b="-399"/>
          <a:stretch/>
        </p:blipFill>
        <p:spPr>
          <a:xfrm>
            <a:off x="1057046" y="2059229"/>
            <a:ext cx="10077602" cy="19202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295705" y="1821485"/>
            <a:ext cx="476402" cy="476402"/>
          </a:xfrm>
          <a:prstGeom prst="rect">
            <a:avLst/>
          </a:prstGeom>
        </p:spPr>
      </p:pic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438351" y="1964131"/>
            <a:ext cx="190195" cy="190195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1120140" y="2412187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Extraction</a:t>
            </a:r>
            <a:endParaRPr lang="en-US" sz="1000" dirty="0"/>
          </a:p>
        </p:txBody>
      </p:sp>
      <p:sp>
        <p:nvSpPr>
          <p:cNvPr id="52" name="Shape 34"/>
          <p:cNvSpPr/>
          <p:nvPr/>
        </p:nvSpPr>
        <p:spPr>
          <a:xfrm>
            <a:off x="944575" y="2649931"/>
            <a:ext cx="1181405" cy="237744"/>
          </a:xfrm>
          <a:prstGeom prst="roundRect">
            <a:avLst>
              <a:gd name="adj" fmla="val 12307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5"/>
          <p:cNvSpPr txBox="1"/>
          <p:nvPr/>
        </p:nvSpPr>
        <p:spPr>
          <a:xfrm>
            <a:off x="916229" y="2649931"/>
            <a:ext cx="12390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PyMuPDF4LLM / VLM</a:t>
            </a:r>
            <a:endParaRPr lang="en-US" sz="80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576218" y="1821485"/>
            <a:ext cx="476402" cy="476402"/>
          </a:xfrm>
          <a:prstGeom prst="rect">
            <a:avLst/>
          </a:prstGeom>
        </p:spPr>
      </p:pic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719779" y="1964131"/>
            <a:ext cx="190195" cy="190195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3419856" y="2412187"/>
            <a:ext cx="9409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Chunking</a:t>
            </a:r>
            <a:endParaRPr lang="en-US" sz="1000" dirty="0"/>
          </a:p>
        </p:txBody>
      </p:sp>
      <p:sp>
        <p:nvSpPr>
          <p:cNvPr id="57" name="Shape 37"/>
          <p:cNvSpPr/>
          <p:nvPr/>
        </p:nvSpPr>
        <p:spPr>
          <a:xfrm>
            <a:off x="3253435" y="2649931"/>
            <a:ext cx="1123798" cy="237744"/>
          </a:xfrm>
          <a:prstGeom prst="roundRect">
            <a:avLst>
              <a:gd name="adj" fmla="val 12307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38"/>
          <p:cNvSpPr txBox="1"/>
          <p:nvPr/>
        </p:nvSpPr>
        <p:spPr>
          <a:xfrm>
            <a:off x="3225089" y="2649931"/>
            <a:ext cx="11814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Recursive + Overlap</a:t>
            </a:r>
            <a:endParaRPr lang="en-US" sz="800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857646" y="1821485"/>
            <a:ext cx="476402" cy="476402"/>
          </a:xfrm>
          <a:prstGeom prst="rect">
            <a:avLst/>
          </a:prstGeom>
        </p:spPr>
      </p:pic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6001207" y="1964131"/>
            <a:ext cx="190195" cy="190195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5721401" y="2412187"/>
            <a:ext cx="896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Retrieval</a:t>
            </a:r>
            <a:endParaRPr lang="en-US" sz="1000" dirty="0"/>
          </a:p>
        </p:txBody>
      </p:sp>
      <p:sp>
        <p:nvSpPr>
          <p:cNvPr id="62" name="Shape 40"/>
          <p:cNvSpPr/>
          <p:nvPr/>
        </p:nvSpPr>
        <p:spPr>
          <a:xfrm>
            <a:off x="5405018" y="2649931"/>
            <a:ext cx="1390802" cy="237744"/>
          </a:xfrm>
          <a:prstGeom prst="roundRect">
            <a:avLst>
              <a:gd name="adj" fmla="val 12307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1"/>
          <p:cNvSpPr txBox="1"/>
          <p:nvPr/>
        </p:nvSpPr>
        <p:spPr>
          <a:xfrm>
            <a:off x="5376672" y="2649931"/>
            <a:ext cx="14484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(Vector+Keyword)</a:t>
            </a:r>
            <a:endParaRPr lang="en-US" sz="800" dirty="0"/>
          </a:p>
        </p:txBody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8139074" y="1821485"/>
            <a:ext cx="476402" cy="476402"/>
          </a:xfrm>
          <a:prstGeom prst="rect">
            <a:avLst/>
          </a:prstGeom>
        </p:spPr>
      </p:pic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281721" y="1964131"/>
            <a:ext cx="190195" cy="190195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7962595" y="2412187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Reranking</a:t>
            </a:r>
            <a:endParaRPr lang="en-US" sz="1000" dirty="0"/>
          </a:p>
        </p:txBody>
      </p:sp>
      <p:sp>
        <p:nvSpPr>
          <p:cNvPr id="67" name="Shape 43"/>
          <p:cNvSpPr/>
          <p:nvPr/>
        </p:nvSpPr>
        <p:spPr>
          <a:xfrm>
            <a:off x="7749540" y="2649931"/>
            <a:ext cx="1257300" cy="237744"/>
          </a:xfrm>
          <a:prstGeom prst="roundRect">
            <a:avLst>
              <a:gd name="adj" fmla="val 12307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44"/>
          <p:cNvSpPr txBox="1"/>
          <p:nvPr/>
        </p:nvSpPr>
        <p:spPr>
          <a:xfrm>
            <a:off x="7721194" y="2649931"/>
            <a:ext cx="13149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Cross-Encoder (Top-N)</a:t>
            </a:r>
            <a:endParaRPr lang="en-US" sz="800" dirty="0"/>
          </a:p>
        </p:txBody>
      </p:sp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420502" y="1821485"/>
            <a:ext cx="476402" cy="476402"/>
          </a:xfrm>
          <a:prstGeom prst="rect">
            <a:avLst/>
          </a:prstGeom>
        </p:spPr>
      </p:pic>
      <p:pic>
        <p:nvPicPr>
          <p:cNvPr id="70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0539374" y="1964131"/>
            <a:ext cx="237744" cy="190195"/>
          </a:xfrm>
          <a:prstGeom prst="rect">
            <a:avLst/>
          </a:prstGeom>
        </p:spPr>
      </p:pic>
      <p:sp>
        <p:nvSpPr>
          <p:cNvPr id="71" name="Text 45"/>
          <p:cNvSpPr txBox="1"/>
          <p:nvPr/>
        </p:nvSpPr>
        <p:spPr>
          <a:xfrm>
            <a:off x="10212934" y="2412187"/>
            <a:ext cx="1066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Generation</a:t>
            </a:r>
            <a:endParaRPr lang="en-US" sz="1000" dirty="0"/>
          </a:p>
        </p:txBody>
      </p:sp>
      <p:sp>
        <p:nvSpPr>
          <p:cNvPr id="72" name="Shape 46"/>
          <p:cNvSpPr/>
          <p:nvPr/>
        </p:nvSpPr>
        <p:spPr>
          <a:xfrm>
            <a:off x="10232136" y="2649931"/>
            <a:ext cx="857707" cy="237744"/>
          </a:xfrm>
          <a:prstGeom prst="roundRect">
            <a:avLst>
              <a:gd name="adj" fmla="val 123077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47"/>
          <p:cNvSpPr txBox="1"/>
          <p:nvPr/>
        </p:nvSpPr>
        <p:spPr>
          <a:xfrm>
            <a:off x="10202875" y="2649931"/>
            <a:ext cx="9144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+ Citation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2026-02-28T00:21:08Z</dcterms:created>
  <dcterms:modified xsi:type="dcterms:W3CDTF">2026-02-28T00:21:08Z</dcterms:modified>
</cp:coreProperties>
</file>
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l="0" r="0" t="0" b="0"/>
          <a:stretch/>
        </p:blipFill>
        <p:spPr>
          <a:xfrm>
            <a:off x="0" y="0"/>
            <a:ext cx="3657600" cy="36576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l="0" r="0" t="0" b="0"/>
          <a:stretch/>
        </p:blipFill>
        <p:spPr>
          <a:xfrm>
            <a:off x="0" y="0"/>
            <a:ext cx="3047695" cy="304769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0" r="0" t="0" b="0"/>
          <a:stretch/>
        </p:blipFill>
        <p:spPr>
          <a:xfrm>
            <a:off x="7239305" y="571500"/>
            <a:ext cx="5715000" cy="57150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905" y="609905"/>
            <a:ext cx="381305" cy="38130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rcRect l="-1064" r="-1064" t="0" b="0"/>
          <a:stretch/>
        </p:blipFill>
        <p:spPr>
          <a:xfrm>
            <a:off x="690372" y="714146"/>
            <a:ext cx="219456" cy="171907"/>
          </a:xfrm>
          <a:prstGeom prst="rect">
            <a:avLst/>
          </a:prstGeom>
        </p:spPr>
      </p:pic>
      <p:sp>
        <p:nvSpPr>
          <p:cNvPr id="9" name="Text 1"/>
          <p:cNvSpPr txBox="1"/>
          <p:nvPr/>
        </p:nvSpPr>
        <p:spPr>
          <a:xfrm>
            <a:off x="1104595" y="619049"/>
            <a:ext cx="1867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Education Series</a:t>
            </a:r>
            <a:endParaRPr lang="en-US" sz="900" dirty="0"/>
          </a:p>
        </p:txBody>
      </p:sp>
      <p:sp>
        <p:nvSpPr>
          <p:cNvPr id="10" name="Text 2"/>
          <p:cNvSpPr txBox="1"/>
          <p:nvPr/>
        </p:nvSpPr>
        <p:spPr>
          <a:xfrm>
            <a:off x="1104595" y="790956"/>
            <a:ext cx="21314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Retrieval Systems</a:t>
            </a:r>
            <a:endParaRPr lang="en-US" sz="1000" dirty="0"/>
          </a:p>
        </p:txBody>
      </p:sp>
      <p:sp>
        <p:nvSpPr>
          <p:cNvPr id="11" name="Shape 3"/>
          <p:cNvSpPr/>
          <p:nvPr/>
        </p:nvSpPr>
        <p:spPr>
          <a:xfrm>
            <a:off x="761695" y="1328623"/>
            <a:ext cx="1628546" cy="247802"/>
          </a:xfrm>
          <a:prstGeom prst="roundRect">
            <a:avLst>
              <a:gd name="adj" fmla="val 11354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4"/>
          <p:cNvSpPr txBox="1"/>
          <p:nvPr/>
        </p:nvSpPr>
        <p:spPr>
          <a:xfrm>
            <a:off x="761695" y="1328623"/>
            <a:ext cx="1694383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 Deep Dive</a:t>
            </a:r>
            <a:endParaRPr lang="en-US" sz="9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-2111" r="-2111" t="0" b="0"/>
          <a:stretch/>
        </p:blipFill>
        <p:spPr>
          <a:xfrm>
            <a:off x="2496312" y="1447495"/>
            <a:ext cx="609905" cy="9144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761695" y="1805026"/>
            <a:ext cx="1099200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시스템</a:t>
            </a:r>
            <a:pPr algn="l" indent="0" marL="0">
              <a:buNone/>
            </a:pP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 가이드</a:t>
            </a:r>
            <a:endParaRPr lang="en-US" sz="54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rcRect l="-201" r="-201" t="0" b="0"/>
          <a:stretch/>
        </p:blipFill>
        <p:spPr>
          <a:xfrm>
            <a:off x="761695" y="3748126"/>
            <a:ext cx="914400" cy="75895"/>
          </a:xfrm>
          <a:prstGeom prst="rect">
            <a:avLst/>
          </a:prstGeom>
        </p:spPr>
      </p:pic>
      <p:sp>
        <p:nvSpPr>
          <p:cNvPr id="16" name="Text 6"/>
          <p:cNvSpPr txBox="1"/>
          <p:nvPr/>
        </p:nvSpPr>
        <p:spPr>
          <a:xfrm>
            <a:off x="761695" y="4129430"/>
            <a:ext cx="8620963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실무 관점으로 이해하는 RAG 파이프라인의 모든 것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pPr algn="l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pPr algn="l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리랭크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1800" dirty="0"/>
          </a:p>
        </p:txBody>
      </p:sp>
      <p:sp>
        <p:nvSpPr>
          <p:cNvPr id="17" name="Shape 7"/>
          <p:cNvSpPr/>
          <p:nvPr/>
        </p:nvSpPr>
        <p:spPr>
          <a:xfrm>
            <a:off x="609905" y="5438851"/>
            <a:ext cx="109728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8" name="Text 8"/>
          <p:cNvSpPr txBox="1"/>
          <p:nvPr/>
        </p:nvSpPr>
        <p:spPr>
          <a:xfrm>
            <a:off x="609905" y="5790895"/>
            <a:ext cx="18196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Presenter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609905" y="5982005"/>
            <a:ext cx="1819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GenSpark AI Team</a:t>
            </a:r>
            <a:endParaRPr lang="en-US" sz="1300" dirty="0"/>
          </a:p>
        </p:txBody>
      </p:sp>
      <p:sp>
        <p:nvSpPr>
          <p:cNvPr id="20" name="Text 10"/>
          <p:cNvSpPr txBox="1"/>
          <p:nvPr/>
        </p:nvSpPr>
        <p:spPr>
          <a:xfrm>
            <a:off x="2800807" y="5790895"/>
            <a:ext cx="202082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Subject</a:t>
            </a:r>
            <a:endParaRPr lang="en-US" sz="900" dirty="0"/>
          </a:p>
        </p:txBody>
      </p:sp>
      <p:sp>
        <p:nvSpPr>
          <p:cNvPr id="21" name="Text 11"/>
          <p:cNvSpPr txBox="1"/>
          <p:nvPr/>
        </p:nvSpPr>
        <p:spPr>
          <a:xfrm>
            <a:off x="2800807" y="5982005"/>
            <a:ext cx="22384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Large Language Models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9859975" y="5753405"/>
            <a:ext cx="17245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Date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9859975" y="5943600"/>
            <a:ext cx="17245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2026. 02. 28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228954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81305"/>
            <a:ext cx="733349" cy="190195"/>
          </a:xfrm>
          <a:prstGeom prst="roundRect">
            <a:avLst>
              <a:gd name="adj" fmla="val 288462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81015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259129" y="40050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380744" y="400507"/>
            <a:ext cx="13908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Fundamentals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"/>
            <a:ext cx="741944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Retrieval-Augmented Generation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9891979" y="886054"/>
            <a:ext cx="18489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필요한가, 무엇을 하는가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457200" y="1695298"/>
            <a:ext cx="3556102" cy="182880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1754" y="2009851"/>
            <a:ext cx="152705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14654" y="1952244"/>
            <a:ext cx="1521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Why: LLM의 한계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94944" y="2352751"/>
            <a:ext cx="316291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LLM은 문장은 유려하지만,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밖의 지식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(사내 문서, 최신 뉴스)은 모릅니다. 모르는 것도 아는 척 답하는 </a:t>
            </a:r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환각(Hallucination)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문제가 발생합니다. 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" b="-1"/>
          <a:stretch/>
        </p:blipFill>
        <p:spPr>
          <a:xfrm>
            <a:off x="4317797" y="1695298"/>
            <a:ext cx="7416698" cy="182880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4651553" y="2009851"/>
            <a:ext cx="114300" cy="1527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975250" y="1952244"/>
            <a:ext cx="1972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Solution: 검색 + 생성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708246" y="2447849"/>
            <a:ext cx="828446" cy="552298"/>
          </a:xfrm>
          <a:prstGeom prst="roundRect">
            <a:avLst>
              <a:gd name="adj" fmla="val 22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4822546" y="2762402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4670755" y="3076956"/>
            <a:ext cx="905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문서 찾기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6402629" y="2762402"/>
            <a:ext cx="133502" cy="15270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02068" y="2447849"/>
            <a:ext cx="952805" cy="552298"/>
          </a:xfrm>
          <a:prstGeom prst="roundRect">
            <a:avLst>
              <a:gd name="adj" fmla="val 228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7511796" y="2762402"/>
            <a:ext cx="7342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7363663" y="3076956"/>
            <a:ext cx="10287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기반 답변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9218066" y="2762402"/>
            <a:ext cx="133502" cy="152705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10217506" y="2391156"/>
            <a:ext cx="1133856" cy="666598"/>
          </a:xfrm>
          <a:prstGeom prst="roundRect">
            <a:avLst>
              <a:gd name="adj" fmla="val 1567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10385755" y="2743200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답변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0171786" y="3133649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환각 최소화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-4" r="-4" t="0" b="0"/>
          <a:stretch/>
        </p:blipFill>
        <p:spPr>
          <a:xfrm>
            <a:off x="457200" y="5658307"/>
            <a:ext cx="5486400" cy="203819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86054" y="5857646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품질 결정 3요소 </a:t>
            </a:r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(모델 크기보다 중요)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7454" y="5896051"/>
            <a:ext cx="152705" cy="15270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961949" y="6238951"/>
            <a:ext cx="24670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Extraction (추출)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961949" y="6429146"/>
            <a:ext cx="28510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문서(PDF 등)에서 텍스트를 깨끗하게 뽑아냈는가?</a:t>
            </a:r>
            <a:endParaRPr lang="en-US" sz="900" dirty="0"/>
          </a:p>
        </p:txBody>
      </p:sp>
      <p:sp>
        <p:nvSpPr>
          <p:cNvPr id="35" name="Text 24"/>
          <p:cNvSpPr txBox="1"/>
          <p:nvPr/>
        </p:nvSpPr>
        <p:spPr>
          <a:xfrm>
            <a:off x="961949" y="6696151"/>
            <a:ext cx="24176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Chunking (청킹)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961949" y="6886346"/>
            <a:ext cx="27925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의미가 훼손되지 않도록 적절한 단위로 쪼갰는가?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961949" y="7153351"/>
            <a:ext cx="1981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(검색)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961949" y="7343546"/>
            <a:ext cx="23198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질문에 딱 맞는 근거 조각을 찾아왔는가?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-4" r="-4" t="0" b="0"/>
          <a:stretch/>
        </p:blipFill>
        <p:spPr>
          <a:xfrm>
            <a:off x="6248095" y="5658307"/>
            <a:ext cx="5486400" cy="203819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676949" y="5857646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실패 패턴 </a:t>
            </a:r>
            <a:endParaRPr lang="en-US" sz="12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448349" y="5896051"/>
            <a:ext cx="152705" cy="152705"/>
          </a:xfrm>
          <a:prstGeom prst="rect">
            <a:avLst/>
          </a:prstGeom>
        </p:spPr>
      </p:pic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rcRect l="-21233" r="-21233" t="0" b="0"/>
          <a:stretch/>
        </p:blipFill>
        <p:spPr>
          <a:xfrm>
            <a:off x="6524244" y="6344107"/>
            <a:ext cx="190195" cy="133502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6829654" y="6238951"/>
            <a:ext cx="25630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실패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답이 틀리거나 "근거 없음" 답변</a:t>
            </a:r>
            <a:endParaRPr lang="en-US" sz="10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-21233" r="-21233" t="0" b="0"/>
          <a:stretch/>
        </p:blipFill>
        <p:spPr>
          <a:xfrm>
            <a:off x="6524244" y="6801307"/>
            <a:ext cx="190195" cy="133502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829654" y="6696151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왜곡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근거는 맞는데 요약/해석 실수</a:t>
            </a:r>
            <a:endParaRPr lang="en-US" sz="10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rcRect l="-44978" r="-44978" t="0" b="0"/>
          <a:stretch/>
        </p:blipFill>
        <p:spPr>
          <a:xfrm>
            <a:off x="6524244" y="7258507"/>
            <a:ext cx="190195" cy="133502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6829654" y="7153351"/>
            <a:ext cx="2734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불가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표/이미지가 깨져서 검색 원천 봉쇄</a:t>
            </a:r>
            <a:endParaRPr lang="en-US" sz="10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5046574" y="2542946"/>
            <a:ext cx="152705" cy="152705"/>
          </a:xfrm>
          <a:prstGeom prst="rect">
            <a:avLst/>
          </a:prstGeom>
        </p:spPr>
      </p:pic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-180" b="-180"/>
          <a:stretch/>
        </p:blipFill>
        <p:spPr>
          <a:xfrm>
            <a:off x="7781544" y="2542946"/>
            <a:ext cx="190195" cy="152705"/>
          </a:xfrm>
          <a:prstGeom prst="rect">
            <a:avLst/>
          </a:prstGeom>
        </p:spPr>
      </p:pic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0704881" y="2523744"/>
            <a:ext cx="152705" cy="152705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457200" y="3829507"/>
            <a:ext cx="11277295" cy="1524305"/>
          </a:xfrm>
          <a:prstGeom prst="roundRect">
            <a:avLst>
              <a:gd name="adj" fmla="val 899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33"/>
          <p:cNvSpPr txBox="1"/>
          <p:nvPr/>
        </p:nvSpPr>
        <p:spPr>
          <a:xfrm>
            <a:off x="619049" y="3952951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Process Flow</a:t>
            </a:r>
            <a:endParaRPr lang="en-US" sz="900" dirty="0"/>
          </a:p>
        </p:txBody>
      </p:sp>
      <p:sp>
        <p:nvSpPr>
          <p:cNvPr id="53" name="Text 34"/>
          <p:cNvSpPr txBox="1"/>
          <p:nvPr/>
        </p:nvSpPr>
        <p:spPr>
          <a:xfrm>
            <a:off x="2891333" y="4457700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</a:t>
            </a:r>
            <a:endParaRPr lang="en-US" sz="900" dirty="0"/>
          </a:p>
        </p:txBody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180" b="-180"/>
          <a:stretch/>
        </p:blipFill>
        <p:spPr>
          <a:xfrm>
            <a:off x="3689604" y="4515307"/>
            <a:ext cx="95098" cy="152705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5813755" y="4457700"/>
            <a:ext cx="648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</a:t>
            </a:r>
            <a:endParaRPr lang="en-US" sz="900" dirty="0"/>
          </a:p>
        </p:txBody>
      </p:sp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180" b="-180"/>
          <a:stretch/>
        </p:blipFill>
        <p:spPr>
          <a:xfrm>
            <a:off x="6635801" y="4515307"/>
            <a:ext cx="95098" cy="152705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8770925" y="4457700"/>
            <a:ext cx="629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Answer</a:t>
            </a:r>
            <a:endParaRPr lang="en-US" sz="900" dirty="0"/>
          </a:p>
        </p:txBody>
      </p:sp>
      <p:pic>
        <p:nvPicPr>
          <p:cNvPr id="58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180" b="-180"/>
          <a:stretch/>
        </p:blipFill>
        <p:spPr>
          <a:xfrm>
            <a:off x="9581998" y="4515307"/>
            <a:ext cx="95098" cy="152705"/>
          </a:xfrm>
          <a:prstGeom prst="rect">
            <a:avLst/>
          </a:prstGeom>
        </p:spPr>
      </p:pic>
      <p:sp>
        <p:nvSpPr>
          <p:cNvPr id="59" name="Shape 37"/>
          <p:cNvSpPr/>
          <p:nvPr/>
        </p:nvSpPr>
        <p:spPr>
          <a:xfrm>
            <a:off x="1524305" y="4153205"/>
            <a:ext cx="609905" cy="609905"/>
          </a:xfrm>
          <a:prstGeom prst="ellipse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pic>
        <p:nvPicPr>
          <p:cNvPr id="60" name="Image 20" descr="preencoded.png">    </p:cNvPr>
          <p:cNvPicPr>
            <a:picLocks noChangeAspect="1"/>
          </p:cNvPicPr>
          <p:nvPr/>
        </p:nvPicPr>
        <p:blipFill>
          <a:blip r:embed="rId21"/>
          <a:srcRect l="-1648" r="-1648" t="0" b="0"/>
          <a:stretch/>
        </p:blipFill>
        <p:spPr>
          <a:xfrm>
            <a:off x="1742846" y="4362602"/>
            <a:ext cx="171907" cy="190195"/>
          </a:xfrm>
          <a:prstGeom prst="rect">
            <a:avLst/>
          </a:prstGeom>
        </p:spPr>
      </p:pic>
      <p:sp>
        <p:nvSpPr>
          <p:cNvPr id="61" name="Text 38"/>
          <p:cNvSpPr txBox="1"/>
          <p:nvPr/>
        </p:nvSpPr>
        <p:spPr>
          <a:xfrm>
            <a:off x="1436522" y="4839005"/>
            <a:ext cx="9409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 (Query)</a:t>
            </a:r>
            <a:endParaRPr lang="en-US" sz="1000" dirty="0"/>
          </a:p>
        </p:txBody>
      </p:sp>
      <p:sp>
        <p:nvSpPr>
          <p:cNvPr id="62" name="Shape 39"/>
          <p:cNvSpPr/>
          <p:nvPr/>
        </p:nvSpPr>
        <p:spPr>
          <a:xfrm>
            <a:off x="4013302" y="4019702"/>
            <a:ext cx="1218895" cy="9144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3B82F6"/>
            </a:solidFill>
            <a:prstDash val="solid"/>
          </a:ln>
        </p:spPr>
      </p:sp>
      <p:pic>
        <p:nvPicPr>
          <p:cNvPr id="63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4508906" y="4248302"/>
            <a:ext cx="228600" cy="228600"/>
          </a:xfrm>
          <a:prstGeom prst="rect">
            <a:avLst/>
          </a:prstGeom>
        </p:spPr>
      </p:pic>
      <p:sp>
        <p:nvSpPr>
          <p:cNvPr id="64" name="Text 40"/>
          <p:cNvSpPr txBox="1"/>
          <p:nvPr/>
        </p:nvSpPr>
        <p:spPr>
          <a:xfrm>
            <a:off x="4319626" y="4515307"/>
            <a:ext cx="726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Retriever</a:t>
            </a:r>
            <a:endParaRPr lang="en-US" sz="1000" dirty="0"/>
          </a:p>
        </p:txBody>
      </p:sp>
      <p:sp>
        <p:nvSpPr>
          <p:cNvPr id="65" name="Text 41"/>
          <p:cNvSpPr txBox="1"/>
          <p:nvPr/>
        </p:nvSpPr>
        <p:spPr>
          <a:xfrm>
            <a:off x="4046220" y="5009998"/>
            <a:ext cx="11594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문서 조각 추출</a:t>
            </a:r>
            <a:endParaRPr lang="en-US" sz="900" dirty="0"/>
          </a:p>
        </p:txBody>
      </p:sp>
      <p:sp>
        <p:nvSpPr>
          <p:cNvPr id="66" name="Shape 42"/>
          <p:cNvSpPr/>
          <p:nvPr/>
        </p:nvSpPr>
        <p:spPr>
          <a:xfrm>
            <a:off x="6959498" y="4019702"/>
            <a:ext cx="1218895" cy="9144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10B981"/>
            </a:solidFill>
            <a:prstDash val="solid"/>
          </a:ln>
        </p:spPr>
      </p:sp>
      <p:pic>
        <p:nvPicPr>
          <p:cNvPr id="67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0" b="0"/>
          <a:stretch/>
        </p:blipFill>
        <p:spPr>
          <a:xfrm>
            <a:off x="7455103" y="4248302"/>
            <a:ext cx="228600" cy="228600"/>
          </a:xfrm>
          <a:prstGeom prst="rect">
            <a:avLst/>
          </a:prstGeom>
        </p:spPr>
      </p:pic>
      <p:sp>
        <p:nvSpPr>
          <p:cNvPr id="68" name="Text 43"/>
          <p:cNvSpPr txBox="1"/>
          <p:nvPr/>
        </p:nvSpPr>
        <p:spPr>
          <a:xfrm>
            <a:off x="7434986" y="4515307"/>
            <a:ext cx="352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  <a:endParaRPr lang="en-US" sz="1000" dirty="0"/>
          </a:p>
        </p:txBody>
      </p:sp>
      <p:sp>
        <p:nvSpPr>
          <p:cNvPr id="69" name="Text 44"/>
          <p:cNvSpPr txBox="1"/>
          <p:nvPr/>
        </p:nvSpPr>
        <p:spPr>
          <a:xfrm>
            <a:off x="7144207" y="5009998"/>
            <a:ext cx="85130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 기반 생성</a:t>
            </a:r>
            <a:endParaRPr lang="en-US" sz="900" dirty="0"/>
          </a:p>
        </p:txBody>
      </p:sp>
      <p:pic>
        <p:nvPicPr>
          <p:cNvPr id="70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0" b="0"/>
          <a:stretch/>
        </p:blipFill>
        <p:spPr>
          <a:xfrm>
            <a:off x="10058400" y="4153205"/>
            <a:ext cx="609905" cy="609905"/>
          </a:xfrm>
          <a:prstGeom prst="rect">
            <a:avLst/>
          </a:prstGeom>
        </p:spPr>
      </p:pic>
      <p:pic>
        <p:nvPicPr>
          <p:cNvPr id="71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10267798" y="4362602"/>
            <a:ext cx="190195" cy="190195"/>
          </a:xfrm>
          <a:prstGeom prst="rect">
            <a:avLst/>
          </a:prstGeom>
        </p:spPr>
      </p:pic>
      <p:sp>
        <p:nvSpPr>
          <p:cNvPr id="72" name="Text 45"/>
          <p:cNvSpPr txBox="1"/>
          <p:nvPr/>
        </p:nvSpPr>
        <p:spPr>
          <a:xfrm>
            <a:off x="10098634" y="4839005"/>
            <a:ext cx="654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답변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1305"/>
            <a:ext cx="923544" cy="190195"/>
          </a:xfrm>
          <a:prstGeom prst="roundRect">
            <a:avLst>
              <a:gd name="adj" fmla="val 288462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100035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56639" y="40050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577340" y="400507"/>
            <a:ext cx="11914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Processing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"/>
            <a:ext cx="350763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추출 방식 비교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9106510" y="809244"/>
            <a:ext cx="26316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중심 vs 구조화 vs 시각적 이해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4495" y="1466698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4" y="2772461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9" y="1666951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3621" y="1762049"/>
            <a:ext cx="142646" cy="1901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73552" y="1666951"/>
            <a:ext cx="571500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algn="ctr" indent="0" marL="0">
              <a:buNone/>
            </a:pPr>
            <a:r>
              <a:rPr lang="en-US" sz="800" b="1" spc="42" kern="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Basic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04749" y="2124151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PyMuPDFLoader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04749" y="2428646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 텍스트 추출 방식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04749" y="29718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04749" y="3200400"/>
            <a:ext cx="33915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PDF 내부 텍스트 레이어를 읽어 </a:t>
            </a:r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Text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빠르게 추출 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04749" y="38862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114800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빠르고 비용 0 (로컬)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504749" y="4153205"/>
            <a:ext cx="105156" cy="1143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85800" y="4381805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문서 처리에 최적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504749" y="4419295"/>
            <a:ext cx="105156" cy="1143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04749" y="5729630"/>
            <a:ext cx="3314700" cy="629107"/>
          </a:xfrm>
          <a:prstGeom prst="roundRect">
            <a:avLst>
              <a:gd name="adj" fmla="val 352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13816" y="5853074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29107" y="6043270"/>
            <a:ext cx="36886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본문 위주, 표가 적은 문서, 빠르게 베이스라인 구축할 때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41902" y="1466698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251046" y="2772461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442155" y="1666951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61027" y="1762049"/>
            <a:ext cx="142646" cy="19019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85762" y="1666951"/>
            <a:ext cx="1000354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algn="ctr" indent="0" marL="0">
              <a:buNone/>
            </a:pPr>
            <a:r>
              <a:rPr lang="en-US" sz="800" b="1" spc="42" kern="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Structured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4442155" y="2124151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PyMuPDF4LLM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4442155" y="2428646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친화적 마크다운 변환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4442155" y="29718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4442155" y="3200400"/>
            <a:ext cx="33915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텍스트를 </a:t>
            </a:r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형식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변환하여 문단/헤더 구조 보존 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442155" y="38862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4623206" y="4114800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LLM이 이해하기 좋은 구조</a:t>
            </a:r>
            <a:endParaRPr lang="en-US" sz="12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4442155" y="4153205"/>
            <a:ext cx="105156" cy="11430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623206" y="4381805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흐름이 자연스러움</a:t>
            </a:r>
            <a:endParaRPr lang="en-US" sz="12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4442155" y="4419295"/>
            <a:ext cx="105156" cy="11430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4442155" y="5544007"/>
            <a:ext cx="3314700" cy="809244"/>
          </a:xfrm>
          <a:prstGeom prst="roundRect">
            <a:avLst>
              <a:gd name="adj" fmla="val 212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4750308" y="5667451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4565599" y="5857646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위주지만 목차/구조가 중요할 때, 가독성을 높이고 싶을 때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8178394" y="1466698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8188452" y="2772461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8378647" y="1666951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-1282" r="-1282" t="0" b="0"/>
          <a:stretch/>
        </p:blipFill>
        <p:spPr>
          <a:xfrm>
            <a:off x="8460029" y="1762049"/>
            <a:ext cx="219456" cy="19019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0878617" y="1666951"/>
            <a:ext cx="838505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algn="ctr" indent="0" marL="0">
              <a:buNone/>
            </a:pPr>
            <a:r>
              <a:rPr lang="en-US" sz="800" b="1" spc="42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8378647" y="2124151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 (Vision)</a:t>
            </a:r>
            <a:endParaRPr lang="en-US" sz="1500" dirty="0"/>
          </a:p>
        </p:txBody>
      </p:sp>
      <p:sp>
        <p:nvSpPr>
          <p:cNvPr id="52" name="Text 43"/>
          <p:cNvSpPr txBox="1"/>
          <p:nvPr/>
        </p:nvSpPr>
        <p:spPr>
          <a:xfrm>
            <a:off x="8378647" y="2428646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기반 시각적 해석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8378647" y="29718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8378647" y="3200400"/>
            <a:ext cx="33915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페이지를 </a:t>
            </a:r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이미지로 캡처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후 GPT-4o 등이 시각적으로 정보 해석 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8378647" y="38862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8559698" y="4114800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표/그래프 수치 정확히 인식</a:t>
            </a:r>
            <a:endParaRPr lang="en-US" sz="1200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8378647" y="4153205"/>
            <a:ext cx="105156" cy="11430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8559698" y="4381805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레이아웃 정보(캡션 등) 보존</a:t>
            </a:r>
            <a:endParaRPr lang="en-US" sz="12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8378647" y="4419295"/>
            <a:ext cx="105156" cy="114300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8378647" y="5544007"/>
            <a:ext cx="3314700" cy="809244"/>
          </a:xfrm>
          <a:prstGeom prst="roundRect">
            <a:avLst>
              <a:gd name="adj" fmla="val 212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8687714" y="5667451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8503006" y="5857646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"정답이 표에 있다"가 많을 때, 재무제표/기술문서 등 그래프가 핵심일 때</a:t>
            </a:r>
            <a:endParaRPr lang="en-US" sz="90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29107" y="5876849"/>
            <a:ext cx="114300" cy="114300"/>
          </a:xfrm>
          <a:prstGeom prst="rect">
            <a:avLst/>
          </a:prstGeom>
        </p:spPr>
      </p:pic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565599" y="5691226"/>
            <a:ext cx="114300" cy="114300"/>
          </a:xfrm>
          <a:prstGeom prst="rect">
            <a:avLst/>
          </a:prstGeom>
        </p:spPr>
      </p:pic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503006" y="5691226"/>
            <a:ext cx="114300" cy="1143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666598" y="4647895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표/다단 편집 시 순서 섞임</a:t>
            </a:r>
            <a:endParaRPr lang="en-US" sz="120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>
            <a:alphaModFix amt="70000"/>
          </a:blip>
          <a:srcRect l="-133" r="-133" t="0" b="0"/>
          <a:stretch/>
        </p:blipFill>
        <p:spPr>
          <a:xfrm>
            <a:off x="504749" y="4686300"/>
            <a:ext cx="85954" cy="1143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666598" y="4914900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이미지/그래프 정보 누락</a:t>
            </a:r>
            <a:endParaRPr lang="en-US" sz="1200" dirty="0"/>
          </a:p>
        </p:txBody>
      </p:sp>
      <p:pic>
        <p:nvPicPr>
          <p:cNvPr id="69" name="Image 13" descr="preencoded.png">    </p:cNvPr>
          <p:cNvPicPr>
            <a:picLocks noChangeAspect="1"/>
          </p:cNvPicPr>
          <p:nvPr/>
        </p:nvPicPr>
        <p:blipFill>
          <a:blip r:embed="rId14">
            <a:alphaModFix amt="70000"/>
          </a:blip>
          <a:srcRect l="-133" r="-133" t="0" b="0"/>
          <a:stretch/>
        </p:blipFill>
        <p:spPr>
          <a:xfrm>
            <a:off x="504749" y="4953305"/>
            <a:ext cx="85954" cy="114300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4604004" y="4647895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표 복원은 여전히 난해</a:t>
            </a:r>
            <a:endParaRPr lang="en-US" sz="1200" dirty="0"/>
          </a:p>
        </p:txBody>
      </p:sp>
      <p:pic>
        <p:nvPicPr>
          <p:cNvPr id="71" name="Image 14" descr="preencoded.png">    </p:cNvPr>
          <p:cNvPicPr>
            <a:picLocks noChangeAspect="1"/>
          </p:cNvPicPr>
          <p:nvPr/>
        </p:nvPicPr>
        <p:blipFill>
          <a:blip r:embed="rId15">
            <a:alphaModFix amt="70000"/>
          </a:blip>
          <a:srcRect l="-133" r="-133" t="0" b="0"/>
          <a:stretch/>
        </p:blipFill>
        <p:spPr>
          <a:xfrm>
            <a:off x="4442155" y="4686300"/>
            <a:ext cx="85954" cy="114300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4604004" y="4914900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포맷에 따라 성능 편차</a:t>
            </a:r>
            <a:endParaRPr lang="en-US" sz="1200" dirty="0"/>
          </a:p>
        </p:txBody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>
            <a:alphaModFix amt="70000"/>
          </a:blip>
          <a:srcRect l="-133" r="-133" t="0" b="0"/>
          <a:stretch/>
        </p:blipFill>
        <p:spPr>
          <a:xfrm>
            <a:off x="4442155" y="4953305"/>
            <a:ext cx="85954" cy="114300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8540496" y="4647895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높음, 속도 느림</a:t>
            </a:r>
            <a:endParaRPr lang="en-US" sz="1200" dirty="0"/>
          </a:p>
        </p:txBody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>
            <a:alphaModFix amt="70000"/>
          </a:blip>
          <a:srcRect l="-133" r="-133" t="0" b="0"/>
          <a:stretch/>
        </p:blipFill>
        <p:spPr>
          <a:xfrm>
            <a:off x="8378647" y="4686300"/>
            <a:ext cx="85954" cy="1143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540496" y="4914900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글씨 오인식 가능성</a:t>
            </a:r>
            <a:endParaRPr lang="en-US" sz="1200" dirty="0"/>
          </a:p>
        </p:txBody>
      </p:sp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>
            <a:alphaModFix amt="70000"/>
          </a:blip>
          <a:srcRect l="-133" r="-133" t="0" b="0"/>
          <a:stretch/>
        </p:blipFill>
        <p:spPr>
          <a:xfrm>
            <a:off x="8378647" y="4953305"/>
            <a:ext cx="85954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1228954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381305"/>
            <a:ext cx="1476756" cy="190195"/>
          </a:xfrm>
          <a:prstGeom prst="roundRect">
            <a:avLst>
              <a:gd name="adj" fmla="val 288462"/>
            </a:avLst>
          </a:prstGeom>
          <a:solidFill>
            <a:srgbClr val="064E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381305"/>
            <a:ext cx="15526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Chunking Strategy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000707" y="40050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122322" y="400507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Indexing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"/>
            <a:ext cx="720638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Recursive Character Text Splitter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8980322" y="886054"/>
            <a:ext cx="27587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문맥을 보존하는 스마트한 문서 분할 전략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381305" y="1619402"/>
            <a:ext cx="5562295" cy="1314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6851" y="1857146"/>
            <a:ext cx="50292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문서를 쪼개야 하는가? 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049" y="1904695"/>
            <a:ext cx="171907" cy="171907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619049" y="2295144"/>
            <a:ext cx="10515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00100" y="2238451"/>
            <a:ext cx="4351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단위 최적화: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전체는 너무 크고, 답은 특정 문단에 있음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619049" y="2562149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00100" y="2505456"/>
            <a:ext cx="33128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제한: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Context Window 한계 및 비용 효율성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" b="-1"/>
          <a:stretch/>
        </p:blipFill>
        <p:spPr>
          <a:xfrm>
            <a:off x="6248095" y="1619402"/>
            <a:ext cx="5562295" cy="30193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486754" y="1857146"/>
            <a:ext cx="5277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파라미터 설계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6486754" y="2276856"/>
            <a:ext cx="11448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 Small (파편화)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0508285" y="2276856"/>
            <a:ext cx="126370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 Large (정밀도↓)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6486754" y="2657246"/>
            <a:ext cx="51627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Size: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보통 500~1000 토큰 내외 권장. 너무 작으면 문맥이 잘리고, 너무 크면 불필요한 정보가 섞여 검색 정확도가 떨어짐. 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6486754" y="3258007"/>
            <a:ext cx="5201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Overlap의 중요성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6486754" y="4248302"/>
            <a:ext cx="57726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Overlap: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보통 10~20% (100~200자). 문장이 청크 사이에서 뚝 끊겨 의미를 잃는 것을 방지하는 안전장치. 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-2" r="-2" t="0" b="0"/>
          <a:stretch/>
        </p:blipFill>
        <p:spPr>
          <a:xfrm>
            <a:off x="6248095" y="4867351"/>
            <a:ext cx="5562295" cy="316199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734556" y="5105095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실무 적용 Tip </a:t>
            </a:r>
            <a:endParaRPr lang="en-US" sz="13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86754" y="5152644"/>
            <a:ext cx="171907" cy="171907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6486754" y="5524805"/>
            <a:ext cx="5086807" cy="629107"/>
          </a:xfrm>
          <a:prstGeom prst="roundRect">
            <a:avLst>
              <a:gd name="adj" fmla="val 1761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6610198" y="5648249"/>
            <a:ext cx="11667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텍스트 문서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11051438" y="5667451"/>
            <a:ext cx="476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Easy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6610198" y="5876849"/>
            <a:ext cx="4953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Size 1000, Overlap 200 설정이 국룰(Baseline). RecursiveSplitter로 충분함.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6486754" y="6267298"/>
            <a:ext cx="5086807" cy="780898"/>
          </a:xfrm>
          <a:prstGeom prst="roundRect">
            <a:avLst>
              <a:gd name="adj" fmla="val 1142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6610198" y="6391656"/>
            <a:ext cx="15380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표/리스트가 많은 문서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11035894" y="6409944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Hard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6610198" y="6620256"/>
            <a:ext cx="49149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청킹 시 표가 깨짐. 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HeaderMarkdownSplitter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쓰거나 표를 별도 추출하여 요약본만 청킹해야 함. 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6486754" y="7162495"/>
            <a:ext cx="5086807" cy="629107"/>
          </a:xfrm>
          <a:prstGeom prst="roundRect">
            <a:avLst>
              <a:gd name="adj" fmla="val 1761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6610198" y="7286854"/>
            <a:ext cx="10259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코드/법률 문서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10907878" y="7306056"/>
            <a:ext cx="619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Special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6610198" y="7515454"/>
            <a:ext cx="49834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문법적 구조(함수, 조항 등)를 지키는 전용 Splitter (LanguageSplitter) 사용 권장.</a:t>
            </a:r>
            <a:endParaRPr lang="en-US" sz="9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" b="-4"/>
          <a:stretch/>
        </p:blipFill>
        <p:spPr>
          <a:xfrm>
            <a:off x="381305" y="3161995"/>
            <a:ext cx="5562295" cy="4867351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14400" y="3400654"/>
            <a:ext cx="49057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동작 원리: 재귀적 분할 (Recursive) </a:t>
            </a:r>
            <a:endParaRPr lang="en-US" sz="13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-1064" r="-1064" t="0" b="0"/>
          <a:stretch/>
        </p:blipFill>
        <p:spPr>
          <a:xfrm>
            <a:off x="619049" y="3448202"/>
            <a:ext cx="219456" cy="171907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19049" y="3819449"/>
            <a:ext cx="5277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"의미 단위"를 최대한 유지하기 위해 큰 구분자부터 순차적으로 시도하며 자릅니다.</a:t>
            </a:r>
            <a:endParaRPr lang="en-US" sz="9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-396" r="-396" t="0" b="0"/>
          <a:stretch/>
        </p:blipFill>
        <p:spPr>
          <a:xfrm>
            <a:off x="809244" y="4581144"/>
            <a:ext cx="19202" cy="1733702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685800" y="4334256"/>
            <a:ext cx="15270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923544" y="4200754"/>
            <a:ext cx="4781398" cy="666598"/>
          </a:xfrm>
          <a:prstGeom prst="roundRect">
            <a:avLst>
              <a:gd name="adj" fmla="val 1567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1047902" y="4362602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문단 단위 (\n\n)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4679899" y="4324198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Priority High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1047902" y="4591202"/>
            <a:ext cx="4724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먼저 문단 간격으로 잘라본다. </a:t>
            </a:r>
            <a:pPr algn="l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여전히 크다면?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685800" y="5229454"/>
            <a:ext cx="15270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1076249" y="5095951"/>
            <a:ext cx="4629607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1200607" y="5219395"/>
            <a:ext cx="9866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문장 단위 (\n)</a:t>
            </a:r>
            <a:endParaRPr lang="en-US" sz="900" dirty="0"/>
          </a:p>
        </p:txBody>
      </p:sp>
      <p:sp>
        <p:nvSpPr>
          <p:cNvPr id="54" name="Text 41"/>
          <p:cNvSpPr txBox="1"/>
          <p:nvPr/>
        </p:nvSpPr>
        <p:spPr>
          <a:xfrm>
            <a:off x="1200607" y="5410505"/>
            <a:ext cx="4572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줄바꿈 기준으로 나눈다. </a:t>
            </a:r>
            <a:pPr algn="l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그래도 크다면?</a:t>
            </a:r>
            <a:endParaRPr lang="en-US" sz="900" dirty="0"/>
          </a:p>
        </p:txBody>
      </p:sp>
      <p:sp>
        <p:nvSpPr>
          <p:cNvPr id="55" name="Shape 42"/>
          <p:cNvSpPr/>
          <p:nvPr/>
        </p:nvSpPr>
        <p:spPr>
          <a:xfrm>
            <a:off x="685800" y="6048756"/>
            <a:ext cx="152705" cy="19202"/>
          </a:xfrm>
          <a:prstGeom prst="rect">
            <a:avLst/>
          </a:prstGeom>
          <a:solidFill>
            <a:srgbClr val="4755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43"/>
          <p:cNvSpPr/>
          <p:nvPr/>
        </p:nvSpPr>
        <p:spPr>
          <a:xfrm>
            <a:off x="1228954" y="5915254"/>
            <a:ext cx="4476902" cy="590702"/>
          </a:xfrm>
          <a:prstGeom prst="roundRect">
            <a:avLst>
              <a:gd name="adj" fmla="val 1997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1352398" y="6038698"/>
            <a:ext cx="12929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단어/문자 (" ", "")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1352398" y="6229807"/>
            <a:ext cx="43434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공백이나 문자 단위로 쪼개어 chunk_size를 맞춘다.</a:t>
            </a:r>
            <a:endParaRPr lang="en-US" sz="900" dirty="0"/>
          </a:p>
        </p:txBody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rcRect l="-196" r="-196" t="0" b="0"/>
          <a:stretch/>
        </p:blipFill>
        <p:spPr>
          <a:xfrm>
            <a:off x="8182051" y="2467051"/>
            <a:ext cx="1695298" cy="75895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6486754" y="3524098"/>
            <a:ext cx="5086807" cy="609905"/>
          </a:xfrm>
          <a:prstGeom prst="roundRect">
            <a:avLst>
              <a:gd name="adj" fmla="val 1874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rcRect l="-387" r="-387" t="0" b="0"/>
          <a:stretch/>
        </p:blipFill>
        <p:spPr>
          <a:xfrm>
            <a:off x="6495898" y="3534156"/>
            <a:ext cx="19202" cy="590702"/>
          </a:xfrm>
          <a:prstGeom prst="rect">
            <a:avLst/>
          </a:prstGeom>
        </p:spPr>
      </p:pic>
      <p:sp>
        <p:nvSpPr>
          <p:cNvPr id="62" name="Shape 47"/>
          <p:cNvSpPr/>
          <p:nvPr/>
        </p:nvSpPr>
        <p:spPr>
          <a:xfrm>
            <a:off x="9029700" y="3534156"/>
            <a:ext cx="9144" cy="590702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3" name="Text 48"/>
          <p:cNvSpPr txBox="1"/>
          <p:nvPr/>
        </p:nvSpPr>
        <p:spPr>
          <a:xfrm>
            <a:off x="10227564" y="3752698"/>
            <a:ext cx="5340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B</a:t>
            </a:r>
            <a:endParaRPr lang="en-US" sz="900" dirty="0"/>
          </a:p>
        </p:txBody>
      </p:sp>
      <p:sp>
        <p:nvSpPr>
          <p:cNvPr id="64" name="Text 49"/>
          <p:cNvSpPr txBox="1"/>
          <p:nvPr/>
        </p:nvSpPr>
        <p:spPr>
          <a:xfrm>
            <a:off x="7763256" y="3857854"/>
            <a:ext cx="25347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 문장이 경계에 걸칠 때 보호</a:t>
            </a:r>
            <a:endParaRPr lang="en-US" sz="1200" dirty="0"/>
          </a:p>
        </p:txBody>
      </p:sp>
      <p:sp>
        <p:nvSpPr>
          <p:cNvPr id="65" name="Shape 50"/>
          <p:cNvSpPr/>
          <p:nvPr/>
        </p:nvSpPr>
        <p:spPr>
          <a:xfrm>
            <a:off x="9868205" y="3534156"/>
            <a:ext cx="9144" cy="590702"/>
          </a:xfrm>
          <a:prstGeom prst="roundRect">
            <a:avLst>
              <a:gd name="adj" fmla="val 1290323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6" name="Text 51"/>
          <p:cNvSpPr txBox="1"/>
          <p:nvPr/>
        </p:nvSpPr>
        <p:spPr>
          <a:xfrm>
            <a:off x="7957109" y="3752698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15305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1305"/>
            <a:ext cx="1476756" cy="190195"/>
          </a:xfrm>
          <a:prstGeom prst="roundRect">
            <a:avLst>
              <a:gd name="adj" fmla="val 288462"/>
            </a:avLst>
          </a:prstGeom>
          <a:solidFill>
            <a:srgbClr val="312E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15526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Strategy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003450" y="40050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124151" y="400507"/>
            <a:ext cx="15681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Search Optimization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"/>
            <a:ext cx="5845759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방식 비교: FAISS vs BM25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9253728" y="809244"/>
            <a:ext cx="2483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기반 검색과 키워드 매칭의 조화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4495" y="1466698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4" y="2772461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9" y="1666951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586130" y="1762049"/>
            <a:ext cx="219456" cy="1901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027578" y="1666951"/>
            <a:ext cx="819302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algn="ctr" indent="0" marL="0">
              <a:buNone/>
            </a:pPr>
            <a:r>
              <a:rPr lang="en-US" sz="800" b="1" spc="42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504749" y="2124151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FAISS (Vector)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04749" y="2428646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의미적 유사도 기반 검색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04749" y="29718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04749" y="3200400"/>
            <a:ext cx="3391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질문과 문서를 </a:t>
            </a:r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임베딩 벡터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변환하여 의미적 거리가 가까운 것을 찾음 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04749" y="3938321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166921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표현이 달라도 의미가 통하면 찾음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504749" y="4205326"/>
            <a:ext cx="105156" cy="1143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85800" y="4433926"/>
            <a:ext cx="32479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감소" ≈ "실적 하락" 매칭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504749" y="4472330"/>
            <a:ext cx="105156" cy="1143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04749" y="5544007"/>
            <a:ext cx="3314700" cy="809244"/>
          </a:xfrm>
          <a:prstGeom prst="roundRect">
            <a:avLst>
              <a:gd name="adj" fmla="val 2127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13816" y="5667451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29107" y="5857646"/>
            <a:ext cx="31437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질문 표현이 다양하거나, 추상적인 개념을 검색해야 할 때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241902" y="1466698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251046" y="2772461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442155" y="1666951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4546397" y="1762049"/>
            <a:ext cx="171907" cy="19019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83857" y="1666951"/>
            <a:ext cx="695858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algn="ctr" indent="0" marL="0">
              <a:buNone/>
            </a:pPr>
            <a:r>
              <a:rPr lang="en-US" sz="800" b="1" spc="42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Lexical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4442155" y="2124151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 (Keyword)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4442155" y="2428646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 빈도 기반 확률적 매칭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4442155" y="29718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4442155" y="3200400"/>
            <a:ext cx="3391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TF(빈도)와 IDF(희소성)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점수를 기반으로 정확히 일치하는 단어를 찾음 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442155" y="3938321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4623206" y="4166921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숫자, 모델명, 약어 정확도 매우 높음</a:t>
            </a:r>
            <a:endParaRPr lang="en-US" sz="12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4442155" y="4205326"/>
            <a:ext cx="105156" cy="11430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4623206" y="4433926"/>
            <a:ext cx="32479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특화 용어("YoY", "EBITDA")</a:t>
            </a:r>
            <a:endParaRPr lang="en-US" sz="12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4442155" y="4472330"/>
            <a:ext cx="105156" cy="114300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4442155" y="5729630"/>
            <a:ext cx="3314700" cy="629107"/>
          </a:xfrm>
          <a:prstGeom prst="roundRect">
            <a:avLst>
              <a:gd name="adj" fmla="val 352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4750308" y="5853074"/>
            <a:ext cx="307329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추천 상황 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4565599" y="6043270"/>
            <a:ext cx="36475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부품 번호, 사번, 특정 수치 등 정확한 키워드 매칭이 핵심일 때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8178394" y="1466698"/>
            <a:ext cx="3715207" cy="5086807"/>
          </a:xfrm>
          <a:prstGeom prst="roundRect">
            <a:avLst>
              <a:gd name="adj" fmla="val 151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8188452" y="2772461"/>
            <a:ext cx="3696005" cy="9144"/>
          </a:xfrm>
          <a:prstGeom prst="roundRect">
            <a:avLst>
              <a:gd name="adj" fmla="val 1751825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8378647" y="1666951"/>
            <a:ext cx="381305" cy="381305"/>
          </a:xfrm>
          <a:prstGeom prst="roundRect">
            <a:avLst>
              <a:gd name="adj" fmla="val 9592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-1282" r="-1282" t="0" b="0"/>
          <a:stretch/>
        </p:blipFill>
        <p:spPr>
          <a:xfrm>
            <a:off x="8460029" y="1762049"/>
            <a:ext cx="219456" cy="19019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1056010" y="1666951"/>
            <a:ext cx="667512" cy="219456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25400" rIns="76200" bIns="25400" rtlCol="0" anchor="ctr"/>
          <a:lstStyle/>
          <a:p>
            <a:pPr algn="ctr" indent="0" marL="0">
              <a:buNone/>
            </a:pPr>
            <a:r>
              <a:rPr lang="en-US" sz="800" b="1" spc="42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Hybrid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8378647" y="2124151"/>
            <a:ext cx="3429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 (RRF)</a:t>
            </a:r>
            <a:endParaRPr lang="en-US" sz="1500" dirty="0"/>
          </a:p>
        </p:txBody>
      </p:sp>
      <p:sp>
        <p:nvSpPr>
          <p:cNvPr id="52" name="Text 43"/>
          <p:cNvSpPr txBox="1"/>
          <p:nvPr/>
        </p:nvSpPr>
        <p:spPr>
          <a:xfrm>
            <a:off x="8378647" y="2428646"/>
            <a:ext cx="35058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순위 기반 결합 전략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8378647" y="2971800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Mechanism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8378647" y="3200400"/>
            <a:ext cx="3391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FAISS와 BM25의 결과 순위를 </a:t>
            </a:r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재조정(RRF)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최적의 결과를 도출 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8378647" y="3938321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&amp; Cons</a:t>
            </a:r>
            <a:endParaRPr lang="en-US" sz="900" dirty="0"/>
          </a:p>
        </p:txBody>
      </p:sp>
      <p:sp>
        <p:nvSpPr>
          <p:cNvPr id="56" name="Text 47"/>
          <p:cNvSpPr txBox="1"/>
          <p:nvPr/>
        </p:nvSpPr>
        <p:spPr>
          <a:xfrm>
            <a:off x="8559698" y="4166921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의미와 키워드 매칭의 장점 결합</a:t>
            </a:r>
            <a:endParaRPr lang="en-US" sz="1200" dirty="0"/>
          </a:p>
        </p:txBody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8378647" y="4205326"/>
            <a:ext cx="105156" cy="114300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8559698" y="4433926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 문서가 포함될 확률(Recall) 극대화</a:t>
            </a:r>
            <a:endParaRPr lang="en-US" sz="120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8378647" y="4472330"/>
            <a:ext cx="105156" cy="114300"/>
          </a:xfrm>
          <a:prstGeom prst="rect">
            <a:avLst/>
          </a:prstGeom>
        </p:spPr>
      </p:pic>
      <p:sp>
        <p:nvSpPr>
          <p:cNvPr id="60" name="Shape 49"/>
          <p:cNvSpPr/>
          <p:nvPr/>
        </p:nvSpPr>
        <p:spPr>
          <a:xfrm>
            <a:off x="8378647" y="5729630"/>
            <a:ext cx="3314700" cy="629107"/>
          </a:xfrm>
          <a:prstGeom prst="roundRect">
            <a:avLst>
              <a:gd name="adj" fmla="val 3523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8706002" y="5853074"/>
            <a:ext cx="29791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Best Practice 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8503006" y="6043270"/>
            <a:ext cx="32580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대부분의 실무 RAG 시스템에서 </a:t>
            </a:r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권장되는 기본 구성</a:t>
            </a:r>
            <a:endParaRPr lang="en-US" sz="900" dirty="0"/>
          </a:p>
        </p:txBody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29107" y="5691226"/>
            <a:ext cx="114300" cy="114300"/>
          </a:xfrm>
          <a:prstGeom prst="rect">
            <a:avLst/>
          </a:prstGeom>
        </p:spPr>
      </p:pic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565599" y="5876849"/>
            <a:ext cx="114300" cy="114300"/>
          </a:xfrm>
          <a:prstGeom prst="rect">
            <a:avLst/>
          </a:prstGeom>
        </p:spPr>
      </p:pic>
      <p:pic>
        <p:nvPicPr>
          <p:cNvPr id="65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8503006" y="5876849"/>
            <a:ext cx="133502" cy="114300"/>
          </a:xfrm>
          <a:prstGeom prst="rect">
            <a:avLst/>
          </a:prstGeom>
        </p:spPr>
      </p:pic>
      <p:sp>
        <p:nvSpPr>
          <p:cNvPr id="66" name="Text 52"/>
          <p:cNvSpPr txBox="1"/>
          <p:nvPr/>
        </p:nvSpPr>
        <p:spPr>
          <a:xfrm>
            <a:off x="666598" y="4700930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숫자, 고유명사, 약어에 취약</a:t>
            </a:r>
            <a:endParaRPr lang="en-US" sz="1200" dirty="0"/>
          </a:p>
        </p:txBody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>
            <a:alphaModFix amt="70000"/>
          </a:blip>
          <a:srcRect l="-133" r="-133" t="0" b="0"/>
          <a:stretch/>
        </p:blipFill>
        <p:spPr>
          <a:xfrm>
            <a:off x="504749" y="4738421"/>
            <a:ext cx="85954" cy="114300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666598" y="4967021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"비슷하지만 틀린" 내용이 상위 노출</a:t>
            </a:r>
            <a:endParaRPr lang="en-US" sz="1200" dirty="0"/>
          </a:p>
        </p:txBody>
      </p:sp>
      <p:pic>
        <p:nvPicPr>
          <p:cNvPr id="69" name="Image 13" descr="preencoded.png">    </p:cNvPr>
          <p:cNvPicPr>
            <a:picLocks noChangeAspect="1"/>
          </p:cNvPicPr>
          <p:nvPr/>
        </p:nvPicPr>
        <p:blipFill>
          <a:blip r:embed="rId14">
            <a:alphaModFix amt="70000"/>
          </a:blip>
          <a:srcRect l="-133" r="-133" t="0" b="0"/>
          <a:stretch/>
        </p:blipFill>
        <p:spPr>
          <a:xfrm>
            <a:off x="504749" y="5005426"/>
            <a:ext cx="85954" cy="114300"/>
          </a:xfrm>
          <a:prstGeom prst="rect">
            <a:avLst/>
          </a:prstGeom>
        </p:spPr>
      </p:pic>
      <p:sp>
        <p:nvSpPr>
          <p:cNvPr id="70" name="Text 54"/>
          <p:cNvSpPr txBox="1"/>
          <p:nvPr/>
        </p:nvSpPr>
        <p:spPr>
          <a:xfrm>
            <a:off x="4604004" y="4700930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단어가 조금만 달라도 못 찾음 (동의어X)</a:t>
            </a:r>
            <a:endParaRPr lang="en-US" sz="1200" dirty="0"/>
          </a:p>
        </p:txBody>
      </p:sp>
      <p:pic>
        <p:nvPicPr>
          <p:cNvPr id="71" name="Image 14" descr="preencoded.png">    </p:cNvPr>
          <p:cNvPicPr>
            <a:picLocks noChangeAspect="1"/>
          </p:cNvPicPr>
          <p:nvPr/>
        </p:nvPicPr>
        <p:blipFill>
          <a:blip r:embed="rId15">
            <a:alphaModFix amt="70000"/>
          </a:blip>
          <a:srcRect l="-133" r="-133" t="0" b="0"/>
          <a:stretch/>
        </p:blipFill>
        <p:spPr>
          <a:xfrm>
            <a:off x="4442155" y="4738421"/>
            <a:ext cx="85954" cy="114300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4604004" y="4967021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문맥 파악 불가능</a:t>
            </a:r>
            <a:endParaRPr lang="en-US" sz="1200" dirty="0"/>
          </a:p>
        </p:txBody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>
            <a:alphaModFix amt="70000"/>
          </a:blip>
          <a:srcRect l="-133" r="-133" t="0" b="0"/>
          <a:stretch/>
        </p:blipFill>
        <p:spPr>
          <a:xfrm>
            <a:off x="4442155" y="5005426"/>
            <a:ext cx="85954" cy="114300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8540496" y="4700930"/>
            <a:ext cx="3343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복잡도 및 리소스 소폭 증가</a:t>
            </a:r>
            <a:endParaRPr lang="en-US" sz="1200" dirty="0"/>
          </a:p>
        </p:txBody>
      </p:sp>
      <p:pic>
        <p:nvPicPr>
          <p:cNvPr id="75" name="Image 16" descr="preencoded.png">    </p:cNvPr>
          <p:cNvPicPr>
            <a:picLocks noChangeAspect="1"/>
          </p:cNvPicPr>
          <p:nvPr/>
        </p:nvPicPr>
        <p:blipFill>
          <a:blip r:embed="rId17">
            <a:alphaModFix amt="70000"/>
          </a:blip>
          <a:srcRect l="-133" r="-133" t="0" b="0"/>
          <a:stretch/>
        </p:blipFill>
        <p:spPr>
          <a:xfrm>
            <a:off x="8378647" y="4738421"/>
            <a:ext cx="85954" cy="1143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540496" y="4967021"/>
            <a:ext cx="3267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 설정 튜닝 필요</a:t>
            </a:r>
            <a:endParaRPr lang="en-US" sz="1200" dirty="0"/>
          </a:p>
        </p:txBody>
      </p:sp>
      <p:pic>
        <p:nvPicPr>
          <p:cNvPr id="77" name="Image 17" descr="preencoded.png">    </p:cNvPr>
          <p:cNvPicPr>
            <a:picLocks noChangeAspect="1"/>
          </p:cNvPicPr>
          <p:nvPr/>
        </p:nvPicPr>
        <p:blipFill>
          <a:blip r:embed="rId18">
            <a:alphaModFix amt="70000"/>
          </a:blip>
          <a:srcRect l="-133" r="-133" t="0" b="0"/>
          <a:stretch/>
        </p:blipFill>
        <p:spPr>
          <a:xfrm>
            <a:off x="8378647" y="5005426"/>
            <a:ext cx="85954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28954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1305"/>
            <a:ext cx="1514246" cy="190195"/>
          </a:xfrm>
          <a:prstGeom prst="roundRect">
            <a:avLst>
              <a:gd name="adj" fmla="val 288462"/>
            </a:avLst>
          </a:prstGeom>
          <a:solidFill>
            <a:srgbClr val="4C1D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15910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Retrieval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040026" y="40050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161642" y="400507"/>
            <a:ext cx="1267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 Expansion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"/>
            <a:ext cx="46552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Multi-Query Retrieval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7509053" y="886054"/>
            <a:ext cx="42336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불일치(Vocabulary Mismatch)를 극복하는 다중 쿼리 전략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305" y="1619402"/>
            <a:ext cx="3715207" cy="3343046"/>
          </a:xfrm>
          <a:prstGeom prst="roundRect">
            <a:avLst>
              <a:gd name="adj" fmla="val 1870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6851" y="1857146"/>
            <a:ext cx="31811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문제: 표현 불일치 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049" y="1904695"/>
            <a:ext cx="171907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19049" y="2238451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사용자의 언어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19049" y="2428646"/>
            <a:ext cx="3314700" cy="4005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"이번 분기 </a:t>
            </a:r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상승 요인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뭐야?" 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63470" y="2980944"/>
            <a:ext cx="142646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19049" y="3323844"/>
            <a:ext cx="34290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문서의 언어 (매칭 실패)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619049" y="4067251"/>
            <a:ext cx="33147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사용자는 일상 용어를 쓰지만, 문서는 전문 용어나 다른 표현을 씁니다. 단일 쿼리는 이 간극을 넘지 못해 </a:t>
            </a:r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Recall(재현율)</a:t>
            </a:r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떨어집니다. 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81305" y="5183734"/>
            <a:ext cx="3715207" cy="2152498"/>
          </a:xfrm>
          <a:prstGeom prst="roundRect">
            <a:avLst>
              <a:gd name="adj" fmla="val 451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866851" y="5422392"/>
            <a:ext cx="318119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해결: 다중 쿼리 확장 </a:t>
            </a:r>
            <a:endParaRPr lang="en-US" sz="13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049" y="5469941"/>
            <a:ext cx="171907" cy="17190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61949" y="5841187"/>
            <a:ext cx="2288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Paraphrasing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961949" y="6031382"/>
            <a:ext cx="26590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LLM에게 질문을 다양한 표현으로 다시 쓰게 함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961949" y="6298387"/>
            <a:ext cx="22393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Perspective Expansion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961949" y="6488582"/>
            <a:ext cx="269656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동의어, 유의어, 구체적 예시 등으로 관점 확장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961949" y="6755587"/>
            <a:ext cx="26947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Union of Results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1949" y="6945782"/>
            <a:ext cx="3167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쿼리의 검색 결과를 합집합(Union)하여 중복 제거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394606" y="5430622"/>
            <a:ext cx="3600907" cy="1971446"/>
          </a:xfrm>
          <a:prstGeom prst="roundRect">
            <a:avLst>
              <a:gd name="adj" fmla="val 5378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4593946" y="563087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Trade-off 분석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593946" y="5935370"/>
            <a:ext cx="69220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Pros (장점)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7321601" y="5935370"/>
            <a:ext cx="55595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↑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593946" y="6545275"/>
            <a:ext cx="32004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593946" y="6163970"/>
            <a:ext cx="3277210" cy="3063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다른 키워드를 가진 청크들을 낚시바늘 여러 개로 긁어오듯 찾아낼 확률이 높아짐.</a:t>
            </a:r>
            <a:endParaRPr lang="en-US" sz="900" dirty="0"/>
          </a:p>
        </p:txBody>
      </p:sp>
      <p:sp>
        <p:nvSpPr>
          <p:cNvPr id="35" name="Text 30"/>
          <p:cNvSpPr txBox="1"/>
          <p:nvPr/>
        </p:nvSpPr>
        <p:spPr>
          <a:xfrm>
            <a:off x="4593946" y="6668719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 (단점)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6851599" y="6668719"/>
            <a:ext cx="11228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Noise ↑ / Cost ↑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4593946" y="6897319"/>
            <a:ext cx="32772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쿼리가 3개면 검색 비용도 3배. 엉뚱한 방향으로 확장되면 노이즈 문서가 유입됨.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8216798" y="5430622"/>
            <a:ext cx="3600907" cy="1971446"/>
          </a:xfrm>
          <a:prstGeom prst="roundRect">
            <a:avLst>
              <a:gd name="adj" fmla="val 537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8417052" y="5959145"/>
            <a:ext cx="114300" cy="152705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607247" y="5940857"/>
            <a:ext cx="10250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 꿀팁</a:t>
            </a:r>
            <a:endParaRPr lang="en-US" sz="10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8417052" y="6245352"/>
            <a:ext cx="105156" cy="1143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8598103" y="6206947"/>
            <a:ext cx="3096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Reranker 필수: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늘어난 후보군(Noise)을 정리하려면 리랭커가 꼭 뒤에 붙어야 함. </a:t>
            </a:r>
            <a:endParaRPr lang="en-US" sz="9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8417052" y="6626657"/>
            <a:ext cx="105156" cy="11430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8598103" y="6588252"/>
            <a:ext cx="3096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제약: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금융/법률은 용어가 중요하므로, LLM 프롬프트에 </a:t>
            </a:r>
            <a:pPr algn="l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"핵심 키워드는 유지하라"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 지시해야 함. </a:t>
            </a:r>
            <a:endParaRPr lang="en-US" sz="900" dirty="0"/>
          </a:p>
        </p:txBody>
      </p:sp>
      <p:sp>
        <p:nvSpPr>
          <p:cNvPr id="45" name="Text 37"/>
          <p:cNvSpPr txBox="1"/>
          <p:nvPr/>
        </p:nvSpPr>
        <p:spPr>
          <a:xfrm>
            <a:off x="619049" y="3514954"/>
            <a:ext cx="3314700" cy="4005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"...당기 순이익 </a:t>
            </a:r>
            <a:pPr algn="l" indent="0" marL="0">
              <a:buNone/>
            </a:pPr>
            <a:r>
              <a:rPr lang="en-US" sz="1200" dirty="0">
                <a:solidFill>
                  <a:srgbClr val="60A5FA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상방 압력</a:t>
            </a:r>
            <a:pPr algn="l" indent="0" marL="0">
              <a:buNone/>
            </a:pPr>
            <a:r>
              <a:rPr lang="en-US" sz="1200" dirty="0">
                <a:solidFill>
                  <a:srgbClr val="E2E8F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작용..." 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4394606" y="1619402"/>
            <a:ext cx="7420356" cy="3590849"/>
          </a:xfrm>
          <a:prstGeom prst="roundRect">
            <a:avLst>
              <a:gd name="adj" fmla="val 162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47" name="Text 39"/>
          <p:cNvSpPr txBox="1"/>
          <p:nvPr/>
        </p:nvSpPr>
        <p:spPr>
          <a:xfrm>
            <a:off x="4632350" y="1857146"/>
            <a:ext cx="213969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 Expansion Process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5252314" y="2772461"/>
            <a:ext cx="609905" cy="609905"/>
          </a:xfrm>
          <a:prstGeom prst="ellipse">
            <a:avLst/>
          </a:prstGeom>
          <a:noFill/>
          <a:ln w="50800">
            <a:solidFill>
              <a:srgbClr val="E5E7EB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5457139" y="2962656"/>
            <a:ext cx="200254" cy="228600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4795114" y="3496666"/>
            <a:ext cx="1524305" cy="552298"/>
          </a:xfrm>
          <a:prstGeom prst="roundRect">
            <a:avLst>
              <a:gd name="adj" fmla="val 4567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4918558" y="3581705"/>
            <a:ext cx="1276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Original Query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4918558" y="3772814"/>
            <a:ext cx="1276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"상승 요인?"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7438644" y="3029407"/>
            <a:ext cx="761695" cy="761695"/>
          </a:xfrm>
          <a:prstGeom prst="roundRect">
            <a:avLst>
              <a:gd name="adj" fmla="val 36014"/>
            </a:avLst>
          </a:prstGeom>
          <a:noFill/>
          <a:ln w="12700">
            <a:solidFill>
              <a:srgbClr val="8B5CF6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705649" y="3162910"/>
            <a:ext cx="228600" cy="228600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7666330" y="3429914"/>
            <a:ext cx="39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9233611" y="2410358"/>
            <a:ext cx="2266798" cy="590702"/>
          </a:xfrm>
          <a:prstGeom prst="roundRect">
            <a:avLst>
              <a:gd name="adj" fmla="val 3994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9233611" y="2410358"/>
            <a:ext cx="38405" cy="590702"/>
          </a:xfrm>
          <a:prstGeom prst="roundRect">
            <a:avLst>
              <a:gd name="adj" fmla="val 61443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00" b="-400"/>
          <a:stretch/>
        </p:blipFill>
        <p:spPr>
          <a:xfrm>
            <a:off x="9157716" y="2705710"/>
            <a:ext cx="114300" cy="19202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9386316" y="2534717"/>
            <a:ext cx="20711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표현 1 (금융)</a:t>
            </a:r>
            <a:endParaRPr lang="en-US" sz="900" dirty="0"/>
          </a:p>
        </p:txBody>
      </p:sp>
      <p:sp>
        <p:nvSpPr>
          <p:cNvPr id="60" name="Text 49"/>
          <p:cNvSpPr txBox="1"/>
          <p:nvPr/>
        </p:nvSpPr>
        <p:spPr>
          <a:xfrm>
            <a:off x="9386316" y="2686507"/>
            <a:ext cx="21506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분기 </a:t>
            </a:r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상방 요인</a:t>
            </a:r>
            <a:pPr algn="l" indent="0" marL="0">
              <a:buNone/>
            </a:pPr>
            <a:r>
              <a:rPr lang="en-US" sz="1000" b="1" dirty="0">
                <a:solidFill>
                  <a:srgbClr val="DBEA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00" dirty="0"/>
          </a:p>
        </p:txBody>
      </p:sp>
      <p:sp>
        <p:nvSpPr>
          <p:cNvPr id="61" name="Shape 50"/>
          <p:cNvSpPr/>
          <p:nvPr/>
        </p:nvSpPr>
        <p:spPr>
          <a:xfrm>
            <a:off x="9233611" y="3115361"/>
            <a:ext cx="2266798" cy="590702"/>
          </a:xfrm>
          <a:prstGeom prst="roundRect">
            <a:avLst>
              <a:gd name="adj" fmla="val 3994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9233611" y="3115361"/>
            <a:ext cx="38405" cy="590702"/>
          </a:xfrm>
          <a:prstGeom prst="roundRect">
            <a:avLst>
              <a:gd name="adj" fmla="val 61443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00" b="-400"/>
          <a:stretch/>
        </p:blipFill>
        <p:spPr>
          <a:xfrm>
            <a:off x="9157716" y="3410712"/>
            <a:ext cx="114300" cy="19202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9386316" y="3238805"/>
            <a:ext cx="21506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표현 2 (전문 용어)</a:t>
            </a:r>
            <a:endParaRPr lang="en-US" sz="900" dirty="0"/>
          </a:p>
        </p:txBody>
      </p:sp>
      <p:sp>
        <p:nvSpPr>
          <p:cNvPr id="65" name="Text 53"/>
          <p:cNvSpPr txBox="1"/>
          <p:nvPr/>
        </p:nvSpPr>
        <p:spPr>
          <a:xfrm>
            <a:off x="9386316" y="3391510"/>
            <a:ext cx="22128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분기 </a:t>
            </a:r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업사이드(Upside)</a:t>
            </a:r>
            <a:pPr algn="l" indent="0" marL="0">
              <a:buNone/>
            </a:pPr>
            <a:r>
              <a:rPr lang="en-US" sz="1000" b="1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00" dirty="0"/>
          </a:p>
        </p:txBody>
      </p:sp>
      <p:sp>
        <p:nvSpPr>
          <p:cNvPr id="66" name="Shape 54"/>
          <p:cNvSpPr/>
          <p:nvPr/>
        </p:nvSpPr>
        <p:spPr>
          <a:xfrm>
            <a:off x="9233611" y="3820363"/>
            <a:ext cx="2266798" cy="590702"/>
          </a:xfrm>
          <a:prstGeom prst="roundRect">
            <a:avLst>
              <a:gd name="adj" fmla="val 3994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55"/>
          <p:cNvSpPr/>
          <p:nvPr/>
        </p:nvSpPr>
        <p:spPr>
          <a:xfrm>
            <a:off x="9233611" y="3820363"/>
            <a:ext cx="38405" cy="590702"/>
          </a:xfrm>
          <a:prstGeom prst="roundRect">
            <a:avLst>
              <a:gd name="adj" fmla="val 61443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00" b="-400"/>
          <a:stretch/>
        </p:blipFill>
        <p:spPr>
          <a:xfrm>
            <a:off x="9157716" y="4115714"/>
            <a:ext cx="114300" cy="19202"/>
          </a:xfrm>
          <a:prstGeom prst="rect">
            <a:avLst/>
          </a:prstGeom>
        </p:spPr>
      </p:pic>
      <p:sp>
        <p:nvSpPr>
          <p:cNvPr id="69" name="Text 56"/>
          <p:cNvSpPr txBox="1"/>
          <p:nvPr/>
        </p:nvSpPr>
        <p:spPr>
          <a:xfrm>
            <a:off x="9386316" y="3943807"/>
            <a:ext cx="215066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의미적 확장</a:t>
            </a:r>
            <a:endParaRPr lang="en-US" sz="900" dirty="0"/>
          </a:p>
        </p:txBody>
      </p:sp>
      <p:sp>
        <p:nvSpPr>
          <p:cNvPr id="70" name="Text 57"/>
          <p:cNvSpPr txBox="1"/>
          <p:nvPr/>
        </p:nvSpPr>
        <p:spPr>
          <a:xfrm>
            <a:off x="9386316" y="4096512"/>
            <a:ext cx="21936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EF3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분기 </a:t>
            </a:r>
            <a:pPr algn="l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긍정적 실적 사유</a:t>
            </a:r>
            <a:pPr algn="l" indent="0" marL="0">
              <a:buNone/>
            </a:pPr>
            <a:r>
              <a:rPr lang="en-US" sz="1000" b="1" dirty="0">
                <a:solidFill>
                  <a:srgbClr val="FEF3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28954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81305"/>
            <a:ext cx="1657807" cy="190195"/>
          </a:xfrm>
          <a:prstGeom prst="roundRect">
            <a:avLst>
              <a:gd name="adj" fmla="val 288462"/>
            </a:avLst>
          </a:prstGeom>
          <a:solidFill>
            <a:srgbClr val="8318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173370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Reranking Mechanism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188159" y="40050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09774" y="400507"/>
            <a:ext cx="18150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 Optimization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"/>
            <a:ext cx="737646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리랭킹: Bi-Encoder vs Cross-Encoder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8345729" y="886054"/>
            <a:ext cx="3391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속도와 정확도 사이의 균형을 잡는 2단계 검색 전략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305" y="1619402"/>
            <a:ext cx="5562295" cy="2219249"/>
          </a:xfrm>
          <a:prstGeom prst="roundRect">
            <a:avLst>
              <a:gd name="adj" fmla="val 424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9244" y="1819656"/>
            <a:ext cx="10104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Bi-Encoder 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760" r="-760" t="0" b="0"/>
          <a:stretch/>
        </p:blipFill>
        <p:spPr>
          <a:xfrm>
            <a:off x="580644" y="1867205"/>
            <a:ext cx="152705" cy="17190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52798" y="1837944"/>
            <a:ext cx="1248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Retrieval (1차 검색)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80644" y="2238451"/>
            <a:ext cx="1676095" cy="1399946"/>
          </a:xfrm>
          <a:prstGeom prst="roundRect">
            <a:avLst>
              <a:gd name="adj" fmla="val 355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46074" y="2382926"/>
            <a:ext cx="3621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427378" y="2382926"/>
            <a:ext cx="3621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36930" y="2840126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2840126"/>
            <a:ext cx="381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2406701" y="2592324"/>
            <a:ext cx="105156" cy="11430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587752" y="2554834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 인코딩: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질문과 문서를 따로 벡터화하여 미리 저장 가능 (Indexing).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-2571" r="-2571" t="0" b="0"/>
          <a:stretch/>
        </p:blipFill>
        <p:spPr>
          <a:xfrm>
            <a:off x="2406701" y="2973629"/>
            <a:ext cx="105156" cy="1143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587752" y="2935224"/>
            <a:ext cx="32360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빠름: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수백만 문서 중에서 Top-K를 순식간에 검색.</a:t>
            </a:r>
            <a:endParaRPr lang="en-US" sz="9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2406701" y="3202229"/>
            <a:ext cx="105156" cy="1143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87752" y="3163824"/>
            <a:ext cx="29333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정밀도 낮음: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문맥적 뉘앙스를 깊게 파악하지 못함.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248095" y="1619402"/>
            <a:ext cx="5562295" cy="2219249"/>
          </a:xfrm>
          <a:prstGeom prst="roundRect">
            <a:avLst>
              <a:gd name="adj" fmla="val 4244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6696151" y="1819656"/>
            <a:ext cx="1295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Cross-Encoder 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48349" y="1867205"/>
            <a:ext cx="171907" cy="17190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351008" y="1837944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Reranking (2차 정렬)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448349" y="2238451"/>
            <a:ext cx="1676095" cy="1399946"/>
          </a:xfrm>
          <a:prstGeom prst="roundRect">
            <a:avLst>
              <a:gd name="adj" fmla="val 355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922008" y="2345436"/>
            <a:ext cx="7260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[Query + Doc]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6952183" y="2725826"/>
            <a:ext cx="667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BERT (Full Attention)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8274406" y="2669134"/>
            <a:ext cx="105156" cy="1143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455457" y="2630729"/>
            <a:ext cx="33558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인코딩: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질문과 문서를 섞어서(Interaction) 깊게 분석.</a:t>
            </a:r>
            <a:endParaRPr lang="en-US" sz="9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8274406" y="2897734"/>
            <a:ext cx="105156" cy="1143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455457" y="2859329"/>
            <a:ext cx="27678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매우 정확함: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실제 답변이 될 확률을 직접 채점.</a:t>
            </a:r>
            <a:endParaRPr lang="en-US" sz="9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8274406" y="3126334"/>
            <a:ext cx="105156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455457" y="3087929"/>
            <a:ext cx="322234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느림: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문서마다 모델을 돌려야 하므로 전체 검색엔 불가.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8074152" y="4061765"/>
            <a:ext cx="3743554" cy="3666744"/>
          </a:xfrm>
          <a:prstGeom prst="roundRect">
            <a:avLst>
              <a:gd name="adj" fmla="val 155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8311896" y="4545482"/>
            <a:ext cx="3267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8311896" y="4278478"/>
            <a:ext cx="3343961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Top-N Trade-off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311896" y="6612026"/>
            <a:ext cx="3267151" cy="895198"/>
          </a:xfrm>
          <a:prstGeom prst="roundRect">
            <a:avLst>
              <a:gd name="adj" fmla="val 869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35340" y="6755587"/>
            <a:ext cx="114300" cy="11430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626450" y="6736385"/>
            <a:ext cx="8814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Optimal Zone</a:t>
            </a:r>
            <a:endParaRPr lang="en-US" sz="900" dirty="0"/>
          </a:p>
        </p:txBody>
      </p:sp>
      <p:sp>
        <p:nvSpPr>
          <p:cNvPr id="46" name="Text 35"/>
          <p:cNvSpPr txBox="1"/>
          <p:nvPr/>
        </p:nvSpPr>
        <p:spPr>
          <a:xfrm>
            <a:off x="8435340" y="6926580"/>
            <a:ext cx="30961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보통 </a:t>
            </a:r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Top-5 ~ Top-10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사이가 품질과 비용의 최적점(Sweet Spot). </a:t>
            </a:r>
            <a:endParaRPr lang="en-US" sz="1200" dirty="0"/>
          </a:p>
        </p:txBody>
      </p:sp>
      <p:sp>
        <p:nvSpPr>
          <p:cNvPr id="47" name="Text 36"/>
          <p:cNvSpPr txBox="1"/>
          <p:nvPr/>
        </p:nvSpPr>
        <p:spPr>
          <a:xfrm>
            <a:off x="946404" y="3259836"/>
            <a:ext cx="9464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Cosine Sim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6781190" y="3297326"/>
            <a:ext cx="1009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Score (0~1)</a:t>
            </a:r>
            <a:endParaRPr lang="en-US" sz="1200" dirty="0"/>
          </a:p>
        </p:txBody>
      </p:sp>
      <p:sp>
        <p:nvSpPr>
          <p:cNvPr id="49" name="Shape 38"/>
          <p:cNvSpPr/>
          <p:nvPr/>
        </p:nvSpPr>
        <p:spPr>
          <a:xfrm>
            <a:off x="381305" y="4061765"/>
            <a:ext cx="7467905" cy="3666744"/>
          </a:xfrm>
          <a:prstGeom prst="roundRect">
            <a:avLst>
              <a:gd name="adj" fmla="val 155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50" name="Text 39"/>
          <p:cNvSpPr txBox="1"/>
          <p:nvPr/>
        </p:nvSpPr>
        <p:spPr>
          <a:xfrm>
            <a:off x="882396" y="4299509"/>
            <a:ext cx="69192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실무 RAG 파이프라인 </a:t>
            </a:r>
            <a:endParaRPr lang="en-US" sz="1000" dirty="0"/>
          </a:p>
        </p:txBody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rcRect l="-3425" r="-3425" t="0" b="0"/>
          <a:stretch/>
        </p:blipFill>
        <p:spPr>
          <a:xfrm>
            <a:off x="619049" y="4335170"/>
            <a:ext cx="142646" cy="133502"/>
          </a:xfrm>
          <a:prstGeom prst="rect">
            <a:avLst/>
          </a:prstGeom>
        </p:spPr>
      </p:pic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21" b="-421"/>
          <a:stretch/>
        </p:blipFill>
        <p:spPr>
          <a:xfrm>
            <a:off x="2595067" y="5826557"/>
            <a:ext cx="530352" cy="19202"/>
          </a:xfrm>
          <a:prstGeom prst="rect">
            <a:avLst/>
          </a:prstGeom>
        </p:spPr>
      </p:pic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5" b="-435"/>
          <a:stretch/>
        </p:blipFill>
        <p:spPr>
          <a:xfrm>
            <a:off x="5100523" y="5826557"/>
            <a:ext cx="530352" cy="19202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676656" y="7220102"/>
            <a:ext cx="6877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"Bi-Encoder로 넓게(Recall) 잡고, Cross-Encoder로 좁게(Precision) 거른다."</a:t>
            </a:r>
            <a:endParaRPr lang="en-US" sz="900" dirty="0"/>
          </a:p>
        </p:txBody>
      </p:sp>
      <p:sp>
        <p:nvSpPr>
          <p:cNvPr id="55" name="Shape 41"/>
          <p:cNvSpPr/>
          <p:nvPr/>
        </p:nvSpPr>
        <p:spPr>
          <a:xfrm>
            <a:off x="8311896" y="4707331"/>
            <a:ext cx="19202" cy="60990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8483803" y="4707331"/>
            <a:ext cx="16925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N이 너무 작으면 (3개 미만)</a:t>
            </a:r>
            <a:endParaRPr lang="en-US" sz="900" dirty="0"/>
          </a:p>
        </p:txBody>
      </p:sp>
      <p:sp>
        <p:nvSpPr>
          <p:cNvPr id="57" name="Text 43"/>
          <p:cNvSpPr txBox="1"/>
          <p:nvPr/>
        </p:nvSpPr>
        <p:spPr>
          <a:xfrm>
            <a:off x="8668512" y="4897526"/>
            <a:ext cx="30257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Recall Risk </a:t>
            </a:r>
            <a:endParaRPr lang="en-US" sz="90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483803" y="4921301"/>
            <a:ext cx="114300" cy="114300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8483803" y="5088636"/>
            <a:ext cx="3286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 청크가 잘려나가 답변 실패.</a:t>
            </a:r>
            <a:endParaRPr lang="en-US" sz="1200" dirty="0"/>
          </a:p>
        </p:txBody>
      </p:sp>
      <p:sp>
        <p:nvSpPr>
          <p:cNvPr id="60" name="Shape 45"/>
          <p:cNvSpPr/>
          <p:nvPr/>
        </p:nvSpPr>
        <p:spPr>
          <a:xfrm>
            <a:off x="8311896" y="5545836"/>
            <a:ext cx="19202" cy="838505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1" name="Text 46"/>
          <p:cNvSpPr txBox="1"/>
          <p:nvPr/>
        </p:nvSpPr>
        <p:spPr>
          <a:xfrm>
            <a:off x="8483803" y="5545836"/>
            <a:ext cx="15197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N이 너무 크면 (20개 이상)</a:t>
            </a:r>
            <a:endParaRPr lang="en-US" sz="900" dirty="0"/>
          </a:p>
        </p:txBody>
      </p:sp>
      <p:sp>
        <p:nvSpPr>
          <p:cNvPr id="62" name="Text 47"/>
          <p:cNvSpPr txBox="1"/>
          <p:nvPr/>
        </p:nvSpPr>
        <p:spPr>
          <a:xfrm>
            <a:off x="8668512" y="5736031"/>
            <a:ext cx="30257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Cost &amp; Noise Risk </a:t>
            </a:r>
            <a:endParaRPr lang="en-US" sz="900" dirty="0"/>
          </a:p>
        </p:txBody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483803" y="5759806"/>
            <a:ext cx="114300" cy="114300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8483803" y="5926226"/>
            <a:ext cx="3172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입력 비용 증가 및 정보 혼탁(Lost in Middle).</a:t>
            </a:r>
            <a:endParaRPr lang="en-US" sz="1200" dirty="0"/>
          </a:p>
        </p:txBody>
      </p:sp>
      <p:sp>
        <p:nvSpPr>
          <p:cNvPr id="65" name="Shape 49"/>
          <p:cNvSpPr/>
          <p:nvPr/>
        </p:nvSpPr>
        <p:spPr>
          <a:xfrm>
            <a:off x="771754" y="5054803"/>
            <a:ext cx="1676095" cy="1028700"/>
          </a:xfrm>
          <a:prstGeom prst="roundRect">
            <a:avLst>
              <a:gd name="adj" fmla="val 1316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50"/>
          <p:cNvSpPr txBox="1"/>
          <p:nvPr/>
        </p:nvSpPr>
        <p:spPr>
          <a:xfrm>
            <a:off x="857707" y="5502859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Retrieval</a:t>
            </a:r>
            <a:endParaRPr lang="en-US" sz="1000" dirty="0"/>
          </a:p>
        </p:txBody>
      </p:sp>
      <p:sp>
        <p:nvSpPr>
          <p:cNvPr id="67" name="Text 51"/>
          <p:cNvSpPr txBox="1"/>
          <p:nvPr/>
        </p:nvSpPr>
        <p:spPr>
          <a:xfrm>
            <a:off x="759866" y="5731459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Bi-Encoder / FAISS</a:t>
            </a:r>
            <a:endParaRPr lang="en-US" sz="1200" dirty="0"/>
          </a:p>
        </p:txBody>
      </p:sp>
      <p:sp>
        <p:nvSpPr>
          <p:cNvPr id="68" name="Text 52"/>
          <p:cNvSpPr txBox="1"/>
          <p:nvPr/>
        </p:nvSpPr>
        <p:spPr>
          <a:xfrm>
            <a:off x="1282903" y="6236208"/>
            <a:ext cx="6537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Top-K 후보</a:t>
            </a:r>
            <a:endParaRPr lang="en-US" sz="900" dirty="0"/>
          </a:p>
        </p:txBody>
      </p:sp>
      <p:sp>
        <p:nvSpPr>
          <p:cNvPr id="69" name="Text 53"/>
          <p:cNvSpPr txBox="1"/>
          <p:nvPr/>
        </p:nvSpPr>
        <p:spPr>
          <a:xfrm>
            <a:off x="1291133" y="6387998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100개</a:t>
            </a:r>
            <a:endParaRPr lang="en-US" sz="1000" dirty="0"/>
          </a:p>
        </p:txBody>
      </p:sp>
      <p:pic>
        <p:nvPicPr>
          <p:cNvPr id="70" name="Image 14" descr="preencoded.png">    </p:cNvPr>
          <p:cNvPicPr>
            <a:picLocks noChangeAspect="1"/>
          </p:cNvPicPr>
          <p:nvPr/>
        </p:nvPicPr>
        <p:blipFill>
          <a:blip r:embed="rId15"/>
          <a:srcRect l="-57" r="-57" t="0" b="0"/>
          <a:stretch/>
        </p:blipFill>
        <p:spPr>
          <a:xfrm>
            <a:off x="1506931" y="5179162"/>
            <a:ext cx="200254" cy="228600"/>
          </a:xfrm>
          <a:prstGeom prst="rect">
            <a:avLst/>
          </a:prstGeom>
        </p:spPr>
      </p:pic>
      <p:sp>
        <p:nvSpPr>
          <p:cNvPr id="71" name="Shape 54"/>
          <p:cNvSpPr/>
          <p:nvPr/>
        </p:nvSpPr>
        <p:spPr>
          <a:xfrm>
            <a:off x="3277210" y="5045659"/>
            <a:ext cx="1676095" cy="1028700"/>
          </a:xfrm>
          <a:prstGeom prst="roundRect">
            <a:avLst>
              <a:gd name="adj" fmla="val 1316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55"/>
          <p:cNvSpPr txBox="1"/>
          <p:nvPr/>
        </p:nvSpPr>
        <p:spPr>
          <a:xfrm>
            <a:off x="3363163" y="5492801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Rerank</a:t>
            </a:r>
            <a:endParaRPr lang="en-US" sz="1000" dirty="0"/>
          </a:p>
        </p:txBody>
      </p:sp>
      <p:sp>
        <p:nvSpPr>
          <p:cNvPr id="73" name="Text 56"/>
          <p:cNvSpPr txBox="1"/>
          <p:nvPr/>
        </p:nvSpPr>
        <p:spPr>
          <a:xfrm>
            <a:off x="3363163" y="5721401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Cross-Encoder</a:t>
            </a:r>
            <a:endParaRPr lang="en-US" sz="1200" dirty="0"/>
          </a:p>
        </p:txBody>
      </p:sp>
      <p:sp>
        <p:nvSpPr>
          <p:cNvPr id="74" name="Shape 57"/>
          <p:cNvSpPr/>
          <p:nvPr/>
        </p:nvSpPr>
        <p:spPr>
          <a:xfrm>
            <a:off x="3706978" y="6188659"/>
            <a:ext cx="819302" cy="437998"/>
          </a:xfrm>
          <a:prstGeom prst="roundRect">
            <a:avLst>
              <a:gd name="adj" fmla="val 363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5" name="Text 58"/>
          <p:cNvSpPr txBox="1"/>
          <p:nvPr/>
        </p:nvSpPr>
        <p:spPr>
          <a:xfrm>
            <a:off x="3789274" y="6236208"/>
            <a:ext cx="65379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C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Top-N 정예</a:t>
            </a:r>
            <a:endParaRPr lang="en-US" sz="900" dirty="0"/>
          </a:p>
        </p:txBody>
      </p:sp>
      <p:sp>
        <p:nvSpPr>
          <p:cNvPr id="76" name="Text 59"/>
          <p:cNvSpPr txBox="1"/>
          <p:nvPr/>
        </p:nvSpPr>
        <p:spPr>
          <a:xfrm>
            <a:off x="3792931" y="6387998"/>
            <a:ext cx="648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5~10개</a:t>
            </a:r>
            <a:endParaRPr lang="en-US" sz="1000" dirty="0"/>
          </a:p>
        </p:txBody>
      </p:sp>
      <p:pic>
        <p:nvPicPr>
          <p:cNvPr id="77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998671" y="5169103"/>
            <a:ext cx="228600" cy="228600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5783580" y="5140757"/>
            <a:ext cx="1676095" cy="1028700"/>
          </a:xfrm>
          <a:prstGeom prst="roundRect">
            <a:avLst>
              <a:gd name="adj" fmla="val 1316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61"/>
          <p:cNvSpPr txBox="1"/>
          <p:nvPr/>
        </p:nvSpPr>
        <p:spPr>
          <a:xfrm>
            <a:off x="5869534" y="5587898"/>
            <a:ext cx="1505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Generation</a:t>
            </a:r>
            <a:endParaRPr lang="en-US" sz="1000" dirty="0"/>
          </a:p>
        </p:txBody>
      </p:sp>
      <p:sp>
        <p:nvSpPr>
          <p:cNvPr id="80" name="Text 62"/>
          <p:cNvSpPr txBox="1"/>
          <p:nvPr/>
        </p:nvSpPr>
        <p:spPr>
          <a:xfrm>
            <a:off x="5869534" y="5816498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(GPT-4)</a:t>
            </a:r>
            <a:endParaRPr lang="en-US" sz="1200" dirty="0"/>
          </a:p>
        </p:txBody>
      </p:sp>
      <p:sp>
        <p:nvSpPr>
          <p:cNvPr id="81" name="Shape 63"/>
          <p:cNvSpPr/>
          <p:nvPr/>
        </p:nvSpPr>
        <p:spPr>
          <a:xfrm>
            <a:off x="6152998" y="6283757"/>
            <a:ext cx="933602" cy="247802"/>
          </a:xfrm>
          <a:prstGeom prst="roundRect">
            <a:avLst>
              <a:gd name="adj" fmla="val 11354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2" name="Text 64"/>
          <p:cNvSpPr txBox="1"/>
          <p:nvPr/>
        </p:nvSpPr>
        <p:spPr>
          <a:xfrm>
            <a:off x="6211519" y="6331306"/>
            <a:ext cx="8165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Answer</a:t>
            </a:r>
            <a:endParaRPr lang="en-US" sz="900" dirty="0"/>
          </a:p>
        </p:txBody>
      </p:sp>
      <p:pic>
        <p:nvPicPr>
          <p:cNvPr id="83" name="Image 16" descr="preencoded.png">    </p:cNvPr>
          <p:cNvPicPr>
            <a:picLocks noChangeAspect="1"/>
          </p:cNvPicPr>
          <p:nvPr/>
        </p:nvPicPr>
        <p:blipFill>
          <a:blip r:embed="rId17"/>
          <a:srcRect l="-80" r="-80" t="0" b="0"/>
          <a:stretch/>
        </p:blipFill>
        <p:spPr>
          <a:xfrm>
            <a:off x="6476695" y="5264201"/>
            <a:ext cx="286207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28954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1305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292962" y="400507"/>
            <a:ext cx="1243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414577" y="400507"/>
            <a:ext cx="18982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 &amp; Action Plan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"/>
            <a:ext cx="742767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마무리: 실무 체크리스트와 다음 단계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9269273" y="886054"/>
            <a:ext cx="2467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RAG 구축을 위한 최종 점검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305" y="1619402"/>
            <a:ext cx="6676949" cy="5296205"/>
          </a:xfrm>
          <a:prstGeom prst="roundRect">
            <a:avLst>
              <a:gd name="adj" fmla="val 745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75995" y="1857146"/>
            <a:ext cx="6134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RAG 구축 핵심 체크리스트 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049" y="1895551"/>
            <a:ext cx="142646" cy="1901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9049" y="2352751"/>
            <a:ext cx="6200546" cy="923544"/>
          </a:xfrm>
          <a:prstGeom prst="roundRect">
            <a:avLst>
              <a:gd name="adj" fmla="val 1633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0898" y="2514600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6054" y="2619756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14907" y="2514600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Extraction (추출)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314907" y="2743200"/>
            <a:ext cx="43434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성격에 따라 </a:t>
            </a:r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(텍스트 위주) vs </a:t>
            </a:r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VLM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(표/그래프 핵심)을 명확히 선택했는가?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표가 중요하다면 전용 파서나 VLM 필수 고려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6484925" y="2514600"/>
            <a:ext cx="171907" cy="19019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19049" y="3429000"/>
            <a:ext cx="6200546" cy="923544"/>
          </a:xfrm>
          <a:prstGeom prst="roundRect">
            <a:avLst>
              <a:gd name="adj" fmla="val 1633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80898" y="3590849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6054" y="3696005"/>
            <a:ext cx="171907" cy="17190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14907" y="3590849"/>
            <a:ext cx="43726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Chunking (청킹)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314907" y="3819449"/>
            <a:ext cx="43342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의미 단위가 보존되도록 </a:t>
            </a:r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Recursive Splitter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사용하고, 적절한 Overlap을 설정했는가?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표/리스트가 청크 경계에서 깨지지 않도록 별도 처리했는지 확인</a:t>
            </a:r>
            <a:endParaRPr lang="en-US" sz="9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-1648" r="-1648" t="0" b="0"/>
          <a:stretch/>
        </p:blipFill>
        <p:spPr>
          <a:xfrm>
            <a:off x="6484925" y="3590849"/>
            <a:ext cx="171907" cy="19019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19049" y="4505249"/>
            <a:ext cx="6200546" cy="923544"/>
          </a:xfrm>
          <a:prstGeom prst="roundRect">
            <a:avLst>
              <a:gd name="adj" fmla="val 1633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80898" y="4667098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6054" y="4772254"/>
            <a:ext cx="171907" cy="17190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14907" y="4667098"/>
            <a:ext cx="38679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Retrieval (검색)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1314907" y="4895698"/>
            <a:ext cx="38295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FAISS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(의미)와 </a:t>
            </a:r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BM25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(키워드)를 결합한 </a:t>
            </a:r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Ensemble(RRF)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전략을 적용했는가?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Recall(재현율) 확보가 우선, 정답이 후보군에 없으면 답변 불가</a:t>
            </a:r>
            <a:endParaRPr lang="en-US" sz="9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6484925" y="4667098"/>
            <a:ext cx="171907" cy="19019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9049" y="5581498"/>
            <a:ext cx="6200546" cy="923544"/>
          </a:xfrm>
          <a:prstGeom prst="roundRect">
            <a:avLst>
              <a:gd name="adj" fmla="val 1633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780898" y="5743346"/>
            <a:ext cx="381305" cy="381305"/>
          </a:xfrm>
          <a:prstGeom prst="roundRect">
            <a:avLst>
              <a:gd name="adj" fmla="val 4796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2" b="-842"/>
          <a:stretch/>
        </p:blipFill>
        <p:spPr>
          <a:xfrm>
            <a:off x="875995" y="5848502"/>
            <a:ext cx="190195" cy="171907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314907" y="5743346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C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Reranking (재정렬)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1314907" y="5971946"/>
            <a:ext cx="34674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검색된 후보를 </a:t>
            </a:r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Cross-Encoder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정밀 타격하여 </a:t>
            </a:r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Top-N</a:t>
            </a:r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선별했는가? 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Top-N 갯수 튜닝을 통해 비용과 품질 최적화</a:t>
            </a:r>
            <a:endParaRPr lang="en-US" sz="9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6484925" y="5743346"/>
            <a:ext cx="171907" cy="190195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7360920" y="1619402"/>
            <a:ext cx="4457700" cy="2648102"/>
          </a:xfrm>
          <a:prstGeom prst="roundRect">
            <a:avLst>
              <a:gd name="adj" fmla="val 298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9" name="Text 28"/>
          <p:cNvSpPr txBox="1"/>
          <p:nvPr/>
        </p:nvSpPr>
        <p:spPr>
          <a:xfrm>
            <a:off x="7894015" y="1857146"/>
            <a:ext cx="3801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설계 원칙 (Design Principles) </a:t>
            </a:r>
            <a:endParaRPr lang="en-US" sz="13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rcRect l="-1064" r="-1064" t="0" b="0"/>
          <a:stretch/>
        </p:blipFill>
        <p:spPr>
          <a:xfrm>
            <a:off x="7598664" y="1904695"/>
            <a:ext cx="219456" cy="171907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7598664" y="2276856"/>
            <a:ext cx="3981298" cy="857707"/>
          </a:xfrm>
          <a:prstGeom prst="roundRect">
            <a:avLst>
              <a:gd name="adj" fmla="val 1895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7723022" y="2400300"/>
            <a:ext cx="121340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(놓치지 않기)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10251338" y="2400300"/>
            <a:ext cx="14282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 (정확히 집기)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7665415" y="2781605"/>
            <a:ext cx="3848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Ensemble로 넓게 잡고 Reranker로 좁히는 균형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7598664" y="3286354"/>
            <a:ext cx="3981298" cy="857707"/>
          </a:xfrm>
          <a:prstGeom prst="roundRect">
            <a:avLst>
              <a:gd name="adj" fmla="val 1895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7723022" y="3409798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/ Latency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10724083" y="3409798"/>
            <a:ext cx="8101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48" name="Text 36"/>
          <p:cNvSpPr txBox="1"/>
          <p:nvPr/>
        </p:nvSpPr>
        <p:spPr>
          <a:xfrm>
            <a:off x="7627925" y="3791102"/>
            <a:ext cx="3924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실시간성 요구사항에 따른 모델 크기 타협</a:t>
            </a:r>
            <a:endParaRPr lang="en-US" sz="1200" dirty="0"/>
          </a:p>
        </p:txBody>
      </p:sp>
      <p:sp>
        <p:nvSpPr>
          <p:cNvPr id="49" name="Shape 37"/>
          <p:cNvSpPr/>
          <p:nvPr/>
        </p:nvSpPr>
        <p:spPr>
          <a:xfrm>
            <a:off x="7360920" y="4496105"/>
            <a:ext cx="4457700" cy="2419502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94A3B8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50" name="Text 38"/>
          <p:cNvSpPr txBox="1"/>
          <p:nvPr/>
        </p:nvSpPr>
        <p:spPr>
          <a:xfrm>
            <a:off x="7846466" y="4733849"/>
            <a:ext cx="3848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다음 단계 (Next Steps) </a:t>
            </a:r>
            <a:endParaRPr lang="en-US" sz="1300" dirty="0"/>
          </a:p>
        </p:txBody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598664" y="4781398"/>
            <a:ext cx="171907" cy="171907"/>
          </a:xfrm>
          <a:prstGeom prst="rect">
            <a:avLst/>
          </a:prstGeom>
        </p:spPr>
      </p:pic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>
            <a:alphaModFix amt="50000"/>
          </a:blip>
          <a:srcRect l="-200" r="-200" t="0" b="0"/>
          <a:stretch/>
        </p:blipFill>
        <p:spPr>
          <a:xfrm>
            <a:off x="7723022" y="2628900"/>
            <a:ext cx="3726180" cy="75895"/>
          </a:xfrm>
          <a:prstGeom prst="rect">
            <a:avLst/>
          </a:prstGeom>
        </p:spPr>
      </p:pic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509760" y="2590495"/>
            <a:ext cx="152705" cy="152705"/>
          </a:xfrm>
          <a:prstGeom prst="rect">
            <a:avLst/>
          </a:prstGeom>
        </p:spPr>
      </p:pic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>
            <a:alphaModFix amt="50000"/>
          </a:blip>
          <a:srcRect l="-200" r="-200" t="0" b="0"/>
          <a:stretch/>
        </p:blipFill>
        <p:spPr>
          <a:xfrm>
            <a:off x="7723022" y="3638398"/>
            <a:ext cx="3726180" cy="75895"/>
          </a:xfrm>
          <a:prstGeom prst="rect">
            <a:avLst/>
          </a:prstGeom>
        </p:spPr>
      </p:pic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646213" y="3600907"/>
            <a:ext cx="152705" cy="152705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8132674" y="5229454"/>
            <a:ext cx="2762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v0 프로토타입 구축</a:t>
            </a:r>
            <a:endParaRPr lang="en-US" sz="1000" dirty="0"/>
          </a:p>
        </p:txBody>
      </p:sp>
      <p:sp>
        <p:nvSpPr>
          <p:cNvPr id="57" name="Text 40"/>
          <p:cNvSpPr txBox="1"/>
          <p:nvPr/>
        </p:nvSpPr>
        <p:spPr>
          <a:xfrm>
            <a:off x="8132674" y="5419649"/>
            <a:ext cx="29288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베이스라인(PyMuPDF + Ensemble) 파이프라인 완성</a:t>
            </a:r>
            <a:endParaRPr lang="en-US" sz="900" dirty="0"/>
          </a:p>
        </p:txBody>
      </p:sp>
      <p:sp>
        <p:nvSpPr>
          <p:cNvPr id="58" name="Text 41"/>
          <p:cNvSpPr txBox="1"/>
          <p:nvPr/>
        </p:nvSpPr>
        <p:spPr>
          <a:xfrm>
            <a:off x="8132674" y="5724144"/>
            <a:ext cx="2386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지표 설정</a:t>
            </a:r>
            <a:endParaRPr lang="en-US" sz="1000" dirty="0"/>
          </a:p>
        </p:txBody>
      </p:sp>
      <p:sp>
        <p:nvSpPr>
          <p:cNvPr id="59" name="Text 42"/>
          <p:cNvSpPr txBox="1"/>
          <p:nvPr/>
        </p:nvSpPr>
        <p:spPr>
          <a:xfrm>
            <a:off x="8132674" y="5915254"/>
            <a:ext cx="26298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Recall@k, Answerable@k 등 정량 지표 정의</a:t>
            </a:r>
            <a:endParaRPr lang="en-US" sz="900" dirty="0"/>
          </a:p>
        </p:txBody>
      </p:sp>
      <p:sp>
        <p:nvSpPr>
          <p:cNvPr id="60" name="Text 43"/>
          <p:cNvSpPr txBox="1"/>
          <p:nvPr/>
        </p:nvSpPr>
        <p:spPr>
          <a:xfrm>
            <a:off x="8132674" y="6219749"/>
            <a:ext cx="23180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A/B 실험 &amp; 고도화</a:t>
            </a:r>
            <a:endParaRPr lang="en-US" sz="1000" dirty="0"/>
          </a:p>
        </p:txBody>
      </p:sp>
      <p:sp>
        <p:nvSpPr>
          <p:cNvPr id="61" name="Text 44"/>
          <p:cNvSpPr txBox="1"/>
          <p:nvPr/>
        </p:nvSpPr>
        <p:spPr>
          <a:xfrm>
            <a:off x="8132674" y="6409944"/>
            <a:ext cx="26526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Chunk Size 변경, VLM 도입 등 성능 비교 실험</a:t>
            </a:r>
            <a:endParaRPr lang="en-US" sz="900" dirty="0"/>
          </a:p>
        </p:txBody>
      </p:sp>
      <p:sp>
        <p:nvSpPr>
          <p:cNvPr id="62" name="Shape 45"/>
          <p:cNvSpPr/>
          <p:nvPr/>
        </p:nvSpPr>
        <p:spPr>
          <a:xfrm>
            <a:off x="7675474" y="5229454"/>
            <a:ext cx="304495" cy="304495"/>
          </a:xfrm>
          <a:prstGeom prst="ellipse">
            <a:avLst/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3" name="Text 46"/>
          <p:cNvSpPr/>
          <p:nvPr/>
        </p:nvSpPr>
        <p:spPr>
          <a:xfrm>
            <a:off x="7646213" y="5229454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64" name="Text 47"/>
          <p:cNvSpPr/>
          <p:nvPr/>
        </p:nvSpPr>
        <p:spPr>
          <a:xfrm>
            <a:off x="7646213" y="5724144"/>
            <a:ext cx="362102" cy="30541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65" name="Text 48"/>
          <p:cNvSpPr/>
          <p:nvPr/>
        </p:nvSpPr>
        <p:spPr>
          <a:xfrm>
            <a:off x="7646213" y="6219749"/>
            <a:ext cx="362102" cy="30541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2026-02-28T00:30:54Z</dcterms:created>
  <dcterms:modified xsi:type="dcterms:W3CDTF">2026-02-28T00:30:54Z</dcterms:modified>
</cp:coreProperties>
</file>